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DEAE3"/>
                </a:solidFill>
                <a:latin typeface="Malgun Gothic"/>
              </a:defRPr>
            </a:pPr>
            <a:r>
              <a:rPr sz="1400" b="0" i="0" u="none" strike="noStrike">
                <a:solidFill>
                  <a:srgbClr val="EDEAE3"/>
                </a:solidFill>
                <a:latin typeface="Malgun Gothic"/>
              </a:rPr>
              <a:t>월별 커밋 수 (병합·봇 커밋 제외)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(Claude)</c:v>
                </c:pt>
              </c:strCache>
            </c:strRef>
          </c:tx>
          <c:spPr>
            <a:solidFill>
              <a:srgbClr val="94A2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2월</c:v>
                  </c:pt>
                  <c:pt idx="1">
                    <c:v>3월</c:v>
                  </c:pt>
                  <c:pt idx="2">
                    <c:v>4월</c:v>
                  </c:pt>
                  <c:pt idx="3">
                    <c:v>5월</c:v>
                  </c:pt>
                  <c:pt idx="4">
                    <c:v>6월</c:v>
                  </c:pt>
                  <c:pt idx="5">
                    <c:v>7월</c:v>
                  </c:pt>
                  <c:pt idx="6">
                    <c:v>8월</c:v>
                  </c:pt>
                  <c:pt idx="7">
                    <c:v>9월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67</c:v>
                </c:pt>
                <c:pt idx="1">
                  <c:v>49</c:v>
                </c:pt>
                <c:pt idx="2">
                  <c:v>80</c:v>
                </c:pt>
                <c:pt idx="3">
                  <c:v>173</c:v>
                </c:pt>
                <c:pt idx="4">
                  <c:v>216</c:v>
                </c:pt>
                <c:pt idx="5">
                  <c:v>250</c:v>
                </c:pt>
                <c:pt idx="6">
                  <c:v>85</c:v>
                </c:pt>
                <c:pt idx="7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사람</c:v>
                </c:pt>
              </c:strCache>
            </c:strRef>
          </c:tx>
          <c:spPr>
            <a:solidFill>
              <a:srgbClr val="6E7F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2월</c:v>
                  </c:pt>
                  <c:pt idx="1">
                    <c:v>3월</c:v>
                  </c:pt>
                  <c:pt idx="2">
                    <c:v>4월</c:v>
                  </c:pt>
                  <c:pt idx="3">
                    <c:v>5월</c:v>
                  </c:pt>
                  <c:pt idx="4">
                    <c:v>6월</c:v>
                  </c:pt>
                  <c:pt idx="5">
                    <c:v>7월</c:v>
                  </c:pt>
                  <c:pt idx="6">
                    <c:v>8월</c:v>
                  </c:pt>
                  <c:pt idx="7">
                    <c:v>9월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</c:v>
                </c:pt>
                <c:pt idx="1">
                  <c:v>4</c:v>
                </c:pt>
                <c:pt idx="2">
                  <c:v>19</c:v>
                </c:pt>
                <c:pt idx="3">
                  <c:v>11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DEAE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BBAB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64A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BBA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ABBAB2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DEAE3"/>
                </a:solidFill>
                <a:latin typeface="Malgun Gothic"/>
              </a:defRPr>
            </a:pPr>
            <a:r>
              <a:rPr sz="1400" b="0" i="0" u="none" strike="noStrike">
                <a:solidFill>
                  <a:srgbClr val="EDEAE3"/>
                </a:solidFill>
                <a:latin typeface="Malgun Gothic"/>
              </a:rPr>
              <a:t>월별 병합 PR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병합 PR</c:v>
                </c:pt>
              </c:strCache>
            </c:strRef>
          </c:tx>
          <c:spPr>
            <a:solidFill>
              <a:srgbClr val="6E7F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E7F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7F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E7F7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E7F7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E7F7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2D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E7F7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E7F77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2월</c:v>
                  </c:pt>
                  <c:pt idx="1">
                    <c:v>3월</c:v>
                  </c:pt>
                  <c:pt idx="2">
                    <c:v>4월</c:v>
                  </c:pt>
                  <c:pt idx="3">
                    <c:v>5월</c:v>
                  </c:pt>
                  <c:pt idx="4">
                    <c:v>6월</c:v>
                  </c:pt>
                  <c:pt idx="5">
                    <c:v>7월</c:v>
                  </c:pt>
                  <c:pt idx="6">
                    <c:v>8월</c:v>
                  </c:pt>
                  <c:pt idx="7">
                    <c:v>9월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</c:v>
                </c:pt>
                <c:pt idx="1">
                  <c:v>54</c:v>
                </c:pt>
                <c:pt idx="2">
                  <c:v>68</c:v>
                </c:pt>
                <c:pt idx="3">
                  <c:v>99</c:v>
                </c:pt>
                <c:pt idx="4">
                  <c:v>116</c:v>
                </c:pt>
                <c:pt idx="5">
                  <c:v>183</c:v>
                </c:pt>
                <c:pt idx="6">
                  <c:v>87</c:v>
                </c:pt>
                <c:pt idx="7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DEAE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BBAB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64A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BBA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DEAE3"/>
                </a:solidFill>
                <a:latin typeface="Malgun Gothic"/>
              </a:defRPr>
            </a:pPr>
            <a:r>
              <a:rPr sz="1400" b="0" i="0" u="none" strike="noStrike">
                <a:solidFill>
                  <a:srgbClr val="EDEAE3"/>
                </a:solidFill>
                <a:latin typeface="Malgun Gothic"/>
              </a:rPr>
              <a:t>작업일당 PR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 / 작업일</c:v>
                </c:pt>
              </c:strCache>
            </c:strRef>
          </c:tx>
          <c:spPr>
            <a:solidFill>
              <a:srgbClr val="94A2DB"/>
            </a:solidFill>
            <a:ln w="38100" cap="flat">
              <a:solidFill>
                <a:srgbClr val="94A2DB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4A2DB"/>
              </a:solidFill>
              <a:ln w="9525" cap="flat">
                <a:solidFill>
                  <a:srgbClr val="94A2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2월</c:v>
                  </c:pt>
                  <c:pt idx="1">
                    <c:v>3월</c:v>
                  </c:pt>
                  <c:pt idx="2">
                    <c:v>4월</c:v>
                  </c:pt>
                  <c:pt idx="3">
                    <c:v>5월</c:v>
                  </c:pt>
                  <c:pt idx="4">
                    <c:v>6월</c:v>
                  </c:pt>
                  <c:pt idx="5">
                    <c:v>7월</c:v>
                  </c:pt>
                  <c:pt idx="6">
                    <c:v>8월</c:v>
                  </c:pt>
                  <c:pt idx="7">
                    <c:v>9월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4.1</c:v>
                </c:pt>
                <c:pt idx="1">
                  <c:v>4.2</c:v>
                </c:pt>
                <c:pt idx="2">
                  <c:v>5.2</c:v>
                </c:pt>
                <c:pt idx="3">
                  <c:v>5</c:v>
                </c:pt>
                <c:pt idx="4">
                  <c:v>5.5</c:v>
                </c:pt>
                <c:pt idx="5">
                  <c:v>7.6</c:v>
                </c:pt>
                <c:pt idx="6">
                  <c:v>6.7</c:v>
                </c:pt>
                <c:pt idx="7">
                  <c:v>4.1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EDEAE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BBAB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64A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BBA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DEAE3"/>
                </a:solidFill>
                <a:latin typeface="Malgun Gothic"/>
              </a:defRPr>
            </a:pPr>
            <a:r>
              <a:rPr sz="1400" b="0" i="0" u="none" strike="noStrike">
                <a:solidFill>
                  <a:srgbClr val="EDEAE3"/>
                </a:solidFill>
                <a:latin typeface="Malgun Gothic"/>
              </a:rPr>
              <a:t>월말 코드 라인 (천 줄)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Frontend TS/TSX</c:v>
                </c:pt>
              </c:strCache>
            </c:strRef>
          </c:tx>
          <c:spPr>
            <a:solidFill>
              <a:srgbClr val="94A2DB"/>
            </a:solidFill>
            <a:ln w="38100" cap="flat">
              <a:solidFill>
                <a:srgbClr val="94A2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4A2DB"/>
              </a:solidFill>
              <a:ln w="9525" cap="flat">
                <a:solidFill>
                  <a:srgbClr val="94A2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2월</c:v>
                  </c:pt>
                  <c:pt idx="1">
                    <c:v>3월</c:v>
                  </c:pt>
                  <c:pt idx="2">
                    <c:v>4월</c:v>
                  </c:pt>
                  <c:pt idx="3">
                    <c:v>5월</c:v>
                  </c:pt>
                  <c:pt idx="4">
                    <c:v>6월</c:v>
                  </c:pt>
                  <c:pt idx="5">
                    <c:v>7월</c:v>
                  </c:pt>
                  <c:pt idx="6">
                    <c:v>8월</c:v>
                  </c:pt>
                  <c:pt idx="7">
                    <c:v>9월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8.3</c:v>
                </c:pt>
                <c:pt idx="1">
                  <c:v>18.9</c:v>
                </c:pt>
                <c:pt idx="2">
                  <c:v>40.9</c:v>
                </c:pt>
                <c:pt idx="3">
                  <c:v>59.4</c:v>
                </c:pt>
                <c:pt idx="4">
                  <c:v>77</c:v>
                </c:pt>
                <c:pt idx="5">
                  <c:v>104.5</c:v>
                </c:pt>
                <c:pt idx="6">
                  <c:v>110.1</c:v>
                </c:pt>
                <c:pt idx="7">
                  <c:v>121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Backend Python</c:v>
                </c:pt>
              </c:strCache>
            </c:strRef>
          </c:tx>
          <c:spPr>
            <a:solidFill>
              <a:srgbClr val="ABBAB2"/>
            </a:solidFill>
            <a:ln w="38100" cap="flat">
              <a:solidFill>
                <a:srgbClr val="ABBAB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BBAB2"/>
              </a:solidFill>
              <a:ln w="9525" cap="flat">
                <a:solidFill>
                  <a:srgbClr val="ABBAB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2월</c:v>
                  </c:pt>
                  <c:pt idx="1">
                    <c:v>3월</c:v>
                  </c:pt>
                  <c:pt idx="2">
                    <c:v>4월</c:v>
                  </c:pt>
                  <c:pt idx="3">
                    <c:v>5월</c:v>
                  </c:pt>
                  <c:pt idx="4">
                    <c:v>6월</c:v>
                  </c:pt>
                  <c:pt idx="5">
                    <c:v>7월</c:v>
                  </c:pt>
                  <c:pt idx="6">
                    <c:v>8월</c:v>
                  </c:pt>
                  <c:pt idx="7">
                    <c:v>9월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5.6</c:v>
                </c:pt>
                <c:pt idx="1">
                  <c:v>7.9</c:v>
                </c:pt>
                <c:pt idx="2">
                  <c:v>20.2</c:v>
                </c:pt>
                <c:pt idx="3">
                  <c:v>31</c:v>
                </c:pt>
                <c:pt idx="4">
                  <c:v>44</c:v>
                </c:pt>
                <c:pt idx="5">
                  <c:v>75.8</c:v>
                </c:pt>
                <c:pt idx="6">
                  <c:v>82.4</c:v>
                </c:pt>
                <c:pt idx="7">
                  <c:v>101.7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DEAE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BBAB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64A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BBA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ABBAB2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DEAE3"/>
                </a:solidFill>
                <a:latin typeface="Malgun Gothic"/>
              </a:defRPr>
            </a:pPr>
            <a:r>
              <a:rPr sz="1400" b="0" i="0" u="none" strike="noStrike">
                <a:solidFill>
                  <a:srgbClr val="EDEAE3"/>
                </a:solidFill>
                <a:latin typeface="Malgun Gothic"/>
              </a:rPr>
              <a:t>세대별 성장 지수 (초기 =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기능 PR</c:v>
                </c:pt>
              </c:strCache>
            </c:strRef>
          </c:tx>
          <c:spPr>
            <a:solidFill>
              <a:srgbClr val="6E7F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초기 (2~4월)</c:v>
                  </c:pt>
                  <c:pt idx="1">
                    <c:v>4.x (5~6월)</c:v>
                  </c:pt>
                  <c:pt idx="2">
                    <c:v>5 (7~8월)</c:v>
                  </c:pt>
                  <c:pt idx="3">
                    <c:v>5.x (9월)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204</c:v>
                </c:pt>
                <c:pt idx="2">
                  <c:v>150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월 코드 증가량</c:v>
                </c:pt>
              </c:strCache>
            </c:strRef>
          </c:tx>
          <c:spPr>
            <a:solidFill>
              <a:srgbClr val="ABBA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초기 (2~4월)</c:v>
                  </c:pt>
                  <c:pt idx="1">
                    <c:v>4.x (5~6월)</c:v>
                  </c:pt>
                  <c:pt idx="2">
                    <c:v>5 (7~8월)</c:v>
                  </c:pt>
                  <c:pt idx="3">
                    <c:v>5.x (9월)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148</c:v>
                </c:pt>
                <c:pt idx="2">
                  <c:v>176</c:v>
                </c:pt>
                <c:pt idx="3">
                  <c:v>148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PR당 변경 파일</c:v>
                </c:pt>
              </c:strCache>
            </c:strRef>
          </c:tx>
          <c:spPr>
            <a:solidFill>
              <a:srgbClr val="94A2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초기 (2~4월)</c:v>
                  </c:pt>
                  <c:pt idx="1">
                    <c:v>4.x (5~6월)</c:v>
                  </c:pt>
                  <c:pt idx="2">
                    <c:v>5 (7~8월)</c:v>
                  </c:pt>
                  <c:pt idx="3">
                    <c:v>5.x (9월)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140</c:v>
                </c:pt>
                <c:pt idx="2">
                  <c:v>140</c:v>
                </c:pt>
                <c:pt idx="3">
                  <c:v>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DEAE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BBAB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l"/>
        <c:majorGridlines>
          <c:spPr>
            <a:ln w="6350" cap="flat">
              <a:solidFill>
                <a:srgbClr val="364A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BBA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ABBAB2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DEAE3"/>
                </a:solidFill>
                <a:latin typeface="Malgun Gothic"/>
              </a:defRPr>
            </a:pPr>
            <a:r>
              <a:rPr sz="1400" b="0" i="0" u="none" strike="noStrike">
                <a:solidFill>
                  <a:srgbClr val="EDEAE3"/>
                </a:solidFill>
                <a:latin typeface="Malgun Gothic"/>
              </a:rPr>
              <a:t>백엔드 테스트 함수 수 (월말)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테스트 함수</c:v>
                </c:pt>
              </c:strCache>
            </c:strRef>
          </c:tx>
          <c:spPr>
            <a:solidFill>
              <a:srgbClr val="94A2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5월</c:v>
                  </c:pt>
                  <c:pt idx="1">
                    <c:v>6월</c:v>
                  </c:pt>
                  <c:pt idx="2">
                    <c:v>7월</c:v>
                  </c:pt>
                  <c:pt idx="3">
                    <c:v>8월</c:v>
                  </c:pt>
                  <c:pt idx="4">
                    <c:v>9월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57</c:v>
                </c:pt>
                <c:pt idx="2">
                  <c:v>540</c:v>
                </c:pt>
                <c:pt idx="3">
                  <c:v>730</c:v>
                </c:pt>
                <c:pt idx="4">
                  <c:v>1097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DEAE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BBAB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64A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BBA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DEAE3"/>
                </a:solidFill>
                <a:latin typeface="Malgun Gothic"/>
              </a:defRPr>
            </a:pPr>
            <a:r>
              <a:rPr sz="1400" b="0" i="0" u="none" strike="noStrike">
                <a:solidFill>
                  <a:srgbClr val="EDEAE3"/>
                </a:solidFill>
                <a:latin typeface="Malgun Gothic"/>
              </a:rPr>
              <a:t>월별 feat vs fix 커밋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feat</c:v>
                </c:pt>
              </c:strCache>
            </c:strRef>
          </c:tx>
          <c:spPr>
            <a:solidFill>
              <a:srgbClr val="94A2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2월</c:v>
                  </c:pt>
                  <c:pt idx="1">
                    <c:v>3월</c:v>
                  </c:pt>
                  <c:pt idx="2">
                    <c:v>4월</c:v>
                  </c:pt>
                  <c:pt idx="3">
                    <c:v>5월</c:v>
                  </c:pt>
                  <c:pt idx="4">
                    <c:v>6월</c:v>
                  </c:pt>
                  <c:pt idx="5">
                    <c:v>7월</c:v>
                  </c:pt>
                  <c:pt idx="6">
                    <c:v>8월</c:v>
                  </c:pt>
                  <c:pt idx="7">
                    <c:v>9월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34</c:v>
                </c:pt>
                <c:pt idx="1">
                  <c:v>33</c:v>
                </c:pt>
                <c:pt idx="2">
                  <c:v>61</c:v>
                </c:pt>
                <c:pt idx="3">
                  <c:v>105</c:v>
                </c:pt>
                <c:pt idx="4">
                  <c:v>119</c:v>
                </c:pt>
                <c:pt idx="5">
                  <c:v>105</c:v>
                </c:pt>
                <c:pt idx="6">
                  <c:v>26</c:v>
                </c:pt>
                <c:pt idx="7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</c:v>
                </c:pt>
              </c:strCache>
            </c:strRef>
          </c:tx>
          <c:spPr>
            <a:solidFill>
              <a:srgbClr val="6E7F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2월</c:v>
                  </c:pt>
                  <c:pt idx="1">
                    <c:v>3월</c:v>
                  </c:pt>
                  <c:pt idx="2">
                    <c:v>4월</c:v>
                  </c:pt>
                  <c:pt idx="3">
                    <c:v>5월</c:v>
                  </c:pt>
                  <c:pt idx="4">
                    <c:v>6월</c:v>
                  </c:pt>
                  <c:pt idx="5">
                    <c:v>7월</c:v>
                  </c:pt>
                  <c:pt idx="6">
                    <c:v>8월</c:v>
                  </c:pt>
                  <c:pt idx="7">
                    <c:v>9월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36</c:v>
                </c:pt>
                <c:pt idx="1">
                  <c:v>17</c:v>
                </c:pt>
                <c:pt idx="2">
                  <c:v>22</c:v>
                </c:pt>
                <c:pt idx="3">
                  <c:v>43</c:v>
                </c:pt>
                <c:pt idx="4">
                  <c:v>55</c:v>
                </c:pt>
                <c:pt idx="5">
                  <c:v>104</c:v>
                </c:pt>
                <c:pt idx="6">
                  <c:v>41</c:v>
                </c:pt>
                <c:pt idx="7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DEAE3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BBAB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64A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BBA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ABBAB2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DEAE3"/>
                </a:solidFill>
                <a:latin typeface="Malgun Gothic"/>
              </a:defRPr>
            </a:pPr>
            <a:r>
              <a:rPr sz="1400" b="0" i="0" u="none" strike="noStrike">
                <a:solidFill>
                  <a:srgbClr val="EDEAE3"/>
                </a:solidFill>
                <a:latin typeface="Malgun Gothic"/>
              </a:rPr>
              <a:t>영역별 진척도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진척도</c:v>
                </c:pt>
              </c:strCache>
            </c:strRef>
          </c:tx>
          <c:spPr>
            <a:solidFill>
              <a:srgbClr val="6E7F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E7F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E7F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E7F7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2D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2D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2D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2DB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A2DB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4A2DB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프론트 테스트</c:v>
                  </c:pt>
                  <c:pt idx="1">
                    <c:v>관측·성능</c:v>
                  </c:pt>
                  <c:pt idx="2">
                    <c:v>보안·인증</c:v>
                  </c:pt>
                  <c:pt idx="3">
                    <c:v>UX 완성도</c:v>
                  </c:pt>
                  <c:pt idx="4">
                    <c:v>백엔드 테스트</c:v>
                  </c:pt>
                  <c:pt idx="5">
                    <c:v>운영 문서</c:v>
                  </c:pt>
                  <c:pt idx="6">
                    <c:v>배포 형태</c:v>
                  </c:pt>
                  <c:pt idx="7">
                    <c:v>CI/CD·릴리스</c:v>
                  </c:pt>
                  <c:pt idx="8">
                    <c:v>기능 커버리지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</c:v>
                </c:pt>
                <c:pt idx="1">
                  <c:v>30</c:v>
                </c:pt>
                <c:pt idx="2">
                  <c:v>55</c:v>
                </c:pt>
                <c:pt idx="3">
                  <c:v>70</c:v>
                </c:pt>
                <c:pt idx="4">
                  <c:v>70</c:v>
                </c:pt>
                <c:pt idx="5">
                  <c:v>85</c:v>
                </c:pt>
                <c:pt idx="6">
                  <c:v>85</c:v>
                </c:pt>
                <c:pt idx="7">
                  <c:v>90</c:v>
                </c:pt>
                <c:pt idx="8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DEAE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BBAB2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364A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BBA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8개월간 1인 + AI(Claude Code) 페어로 PEP 를 개발한 과정과 결과를 수치로 정리했다.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30171B"/>
          </a:solidFill>
          <a:ln w="12700">
            <a:solidFill>
              <a:srgbClr val="30171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보고 · 2026-10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와 함께 만든 8개월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PEP(Platform Engineering Portal) 개발 과정·결과 리포트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6616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방식이 어떻게 바뀌었나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발전해 왔나 — 수치로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상용화까지 얼마나 왔고, 무엇이 남았나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2026-02-05 ~ 2026-10-01 · 데이터 기준 riverjin839/devops_management main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822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1,988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41248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21945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2926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병합 PR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릴리스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4937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5669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작성 커밋 비중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 — 구현은 AI, 사람은 의도·검증·하네스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222K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라인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102K + TS 121K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 대비 16배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9312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1,097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테스트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39312" y="3017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 31개 → 9월 1,097개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81344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55664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/ 작업일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3017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750 PR ÷ 139 작업일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5건 병합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97696" y="160020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323853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72016" y="1783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상용화 진척도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72016" y="3017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영역 자체 평가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근거는 11장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389120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 변화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커밋의 96%, PR 의 78% 를 AI 가 작성. 사람의 일은 코딩 → 요구사항·리뷰·규칙(하네스) 설계로 이동했다.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 경로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코딩 → 컨텍스트 문서화 → 스킬·자동 게이트 → 에이전트 운영의 4단계로 진화했다.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상용화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기능·배포·CI 는 상용 수준. SSO·프론트 테스트·관측성·i18n 이 남은 핵심 공백이다.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git log origin/main (2026-02-05 ~ 2026-10-01), 저장소 스냅샷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HOW WE WORK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방식은 어떻게 바뀌었나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영역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600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BB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1600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 (AI 페어)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작성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1031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직접 타이핑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276856"/>
            <a:ext cx="411480" cy="219456"/>
          </a:xfrm>
          <a:prstGeom prst="rightArrow">
            <a:avLst/>
          </a:prstGeom>
          <a:solidFill>
            <a:srgbClr val="94A2DB"/>
          </a:solidFill>
          <a:ln w="12700">
            <a:solidFill>
              <a:srgbClr val="94A2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21031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가 구현, 사람은 의도·수용 기준 제시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7889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전달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834640" y="2788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설명 (휘발)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962656"/>
            <a:ext cx="411480" cy="219456"/>
          </a:xfrm>
          <a:prstGeom prst="rightArrow">
            <a:avLst/>
          </a:prstGeom>
          <a:solidFill>
            <a:srgbClr val="94A2DB"/>
          </a:solidFill>
          <a:ln w="12700">
            <a:solidFill>
              <a:srgbClr val="94A2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27889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CLAUDE.md·CODE_MAP·SCREENS 로 저장소에 고정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474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34747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기억·체크리스트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3648456"/>
            <a:ext cx="411480" cy="219456"/>
          </a:xfrm>
          <a:prstGeom prst="rightArrow">
            <a:avLst/>
          </a:prstGeom>
          <a:solidFill>
            <a:srgbClr val="94A2DB"/>
          </a:solidFill>
          <a:ln w="12700">
            <a:solidFill>
              <a:srgbClr val="94A2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0" y="34747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8종 (페이지·체커·릴리스·문서 동기화)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4160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확인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41605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확인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4334256"/>
            <a:ext cx="411480" cy="219456"/>
          </a:xfrm>
          <a:prstGeom prst="rightArrow">
            <a:avLst/>
          </a:prstGeom>
          <a:solidFill>
            <a:srgbClr val="94A2DB"/>
          </a:solidFill>
          <a:ln w="12700">
            <a:solidFill>
              <a:srgbClr val="94A2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0" y="41605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lint 0경고·tsc·build·pytest·docs-sync 게이트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8463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릴리스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834640" y="48463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버전·태그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63640" y="5020056"/>
            <a:ext cx="411480" cy="219456"/>
          </a:xfrm>
          <a:prstGeom prst="rightArrow">
            <a:avLst/>
          </a:prstGeom>
          <a:solidFill>
            <a:srgbClr val="94A2DB"/>
          </a:solidFill>
          <a:ln w="12700">
            <a:solidFill>
              <a:srgbClr val="94A2D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0" y="48463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병합 → SemVer·CHANGELOG·태그 자동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553212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5321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디자인 검토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2834640" y="55321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보며 감(感)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263640" y="5705856"/>
            <a:ext cx="411480" cy="219456"/>
          </a:xfrm>
          <a:prstGeom prst="rightArrow">
            <a:avLst/>
          </a:prstGeom>
          <a:solidFill>
            <a:srgbClr val="94A2DB"/>
          </a:solidFill>
          <a:ln w="12700">
            <a:solidFill>
              <a:srgbClr val="94A2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0" y="55321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에이전트 감사 → DESIGN.md 백로그 101건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저장소 내 CLAUDE.md · .claude/skills · .github/workflows · DESIGN.md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를 잘 쓰기 위한 '하네스'가 쌓여 온 과정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3246120"/>
            <a:ext cx="9418320" cy="0"/>
          </a:xfrm>
          <a:prstGeom prst="line">
            <a:avLst/>
          </a:prstGeom>
          <a:noFill/>
          <a:ln w="50800">
            <a:solidFill>
              <a:srgbClr val="364A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3584" y="3118104"/>
            <a:ext cx="256032" cy="256032"/>
          </a:xfrm>
          <a:prstGeom prst="ellipse">
            <a:avLst/>
          </a:prstGeom>
          <a:solidFill>
            <a:srgbClr val="ABBAB2"/>
          </a:solidFill>
          <a:ln w="25400">
            <a:solidFill>
              <a:srgbClr val="15231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02-05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AI 커밋·PR #1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89058" y="3118104"/>
            <a:ext cx="256032" cy="256032"/>
          </a:xfrm>
          <a:prstGeom prst="ellipse">
            <a:avLst/>
          </a:prstGeom>
          <a:solidFill>
            <a:srgbClr val="94A2DB"/>
          </a:solidFill>
          <a:ln w="25400">
            <a:solidFill>
              <a:srgbClr val="15231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85554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02-24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939834" y="39776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도입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934533" y="3118104"/>
            <a:ext cx="256032" cy="256032"/>
          </a:xfrm>
          <a:prstGeom prst="ellipse">
            <a:avLst/>
          </a:prstGeom>
          <a:solidFill>
            <a:srgbClr val="ABBAB2"/>
          </a:solidFill>
          <a:ln w="25400">
            <a:solidFill>
              <a:srgbClr val="15231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1029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04-21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85309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CODE_MAP.md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80007" y="3118104"/>
            <a:ext cx="256032" cy="256032"/>
          </a:xfrm>
          <a:prstGeom prst="ellipse">
            <a:avLst/>
          </a:prstGeom>
          <a:solidFill>
            <a:srgbClr val="ABBAB2"/>
          </a:solidFill>
          <a:ln w="25400">
            <a:solidFill>
              <a:srgbClr val="15231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76503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05-04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630783" y="39776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DESIGN_SYSTEM.md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25481" y="3118104"/>
            <a:ext cx="256032" cy="256032"/>
          </a:xfrm>
          <a:prstGeom prst="ellipse">
            <a:avLst/>
          </a:prstGeom>
          <a:solidFill>
            <a:srgbClr val="94A2DB"/>
          </a:solidFill>
          <a:ln w="25400">
            <a:solidFill>
              <a:srgbClr val="15231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21977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06-03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76257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+ CHANGELOG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70955" y="3118104"/>
            <a:ext cx="256032" cy="256032"/>
          </a:xfrm>
          <a:prstGeom prst="ellipse">
            <a:avLst/>
          </a:prstGeom>
          <a:solidFill>
            <a:srgbClr val="94A2DB"/>
          </a:solidFill>
          <a:ln w="25400">
            <a:solidFill>
              <a:srgbClr val="15231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7451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07-09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321731" y="39776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릴리스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316430" y="3118104"/>
            <a:ext cx="256032" cy="256032"/>
          </a:xfrm>
          <a:prstGeom prst="ellipse">
            <a:avLst/>
          </a:prstGeom>
          <a:solidFill>
            <a:srgbClr val="ABBAB2"/>
          </a:solidFill>
          <a:ln w="25400">
            <a:solidFill>
              <a:srgbClr val="15231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12926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07-17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667206" y="21945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docs-sync CI·shadcn MCP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661904" y="3118104"/>
            <a:ext cx="256032" cy="256032"/>
          </a:xfrm>
          <a:prstGeom prst="ellipse">
            <a:avLst/>
          </a:prstGeom>
          <a:solidFill>
            <a:srgbClr val="94A2DB"/>
          </a:solidFill>
          <a:ln w="25400">
            <a:solidFill>
              <a:srgbClr val="15231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58400" y="3611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07-19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012680" y="39776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에이전트·DESIGN.md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323853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B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관찰  </a:t>
            </a:r>
            <a:pPr indent="0" marL="0">
              <a:buNone/>
            </a:pPr>
            <a:r>
              <a:rPr lang="en-US" sz="15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아니라 '저장소에 남긴 규칙'이 생산성을 바꿨다. CLAUDE.md 이후 같은 지시를 반복할 필요가 사라졌고, 스킬·게이트 도입(6~7월)과 함께 월 PR 이 99 → 183 건으로 1.8배가 됐다.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각 파일의 최초 추가 커밋 일자 (git log --diff-filter=A)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SHARE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주체 — 커밋의 96% 를 AI 가 작성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589520" cy="4663440"/>
          </a:xfrm>
          <a:prstGeom prst="roundRect">
            <a:avLst>
              <a:gd name="adj" fmla="val 1569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691640"/>
          <a:ext cx="72237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544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323853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41080" y="1691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1,012 / 1,056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2240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작성 커밋 (96%)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12480" y="31546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41080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586 / 750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브랜치 PR (78%)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412480" y="47548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41080" y="4892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5월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8641080" y="5440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Claude Code CLI 전환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계정 커밋도 91% AI 작성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= 작성자 Claude 또는 Co-Authored-By: Claude 트레일러 · github-actions 봇 171건 제외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처리량 — 7월 정점 183 PR, 이후 안정화 구간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663440"/>
          </a:xfrm>
          <a:prstGeom prst="roundRect">
            <a:avLst>
              <a:gd name="adj" fmla="val 1569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691640"/>
          <a:ext cx="65836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554480"/>
            <a:ext cx="3840480" cy="4663440"/>
          </a:xfrm>
          <a:prstGeom prst="roundRect">
            <a:avLst>
              <a:gd name="adj" fmla="val 1905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graphicFrame>
        <p:nvGraphicFramePr>
          <p:cNvPr id="7" name="Chart 1" descr=""/>
          <p:cNvGraphicFramePr/>
          <p:nvPr/>
        </p:nvGraphicFramePr>
        <p:xfrm>
          <a:off x="7909560" y="1691640"/>
          <a:ext cx="356616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046720" y="46634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ADB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4.1 → 7.6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 대비 7월 작업일당 PR 1.9배. 8월은 신규 기능 대신 버그·품질 정비에 집중한 구간이다.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'Merge pull request' 병합만 집계(브랜치 동기화 병합 95건 제외), 작업일 = 커밋 1건 이상인 날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GROWTH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— 코드 16배, 화면 9배, API 6배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663440"/>
          </a:xfrm>
          <a:prstGeom prst="roundRect">
            <a:avLst>
              <a:gd name="adj" fmla="val 1569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691640"/>
          <a:ext cx="65836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554480"/>
            <a:ext cx="3840480" cy="4663440"/>
          </a:xfrm>
          <a:prstGeom prst="roundRect">
            <a:avLst>
              <a:gd name="adj" fmla="val 1905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2월 말 → 9월 말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286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라우터 (API)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6060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BB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indent="0" marL="0">
              <a:buNone/>
            </a:pPr>
            <a:r>
              <a:rPr lang="en-US" sz="24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24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(pages)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35661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BB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indent="0" marL="0">
              <a:buNone/>
            </a:pPr>
            <a:r>
              <a:rPr lang="en-US" sz="24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24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4206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모델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4526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BB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indent="0" marL="0">
              <a:buNone/>
            </a:pPr>
            <a:r>
              <a:rPr lang="en-US" sz="24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24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046720" y="5166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(.md)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54864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BB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buNone/>
            </a:pPr>
            <a:r>
              <a:rPr lang="en-US" sz="24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24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월말 커밋 스냅샷 기준 파일·라인 집계 (git ls-tree / cat-file)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EVOLUTION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세대가 바뀔 때마다 기능 구현 규모가 커졌다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663440"/>
          </a:xfrm>
          <a:prstGeom prst="roundRect">
            <a:avLst>
              <a:gd name="adj" fmla="val 1569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691640"/>
          <a:ext cx="65836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554480"/>
            <a:ext cx="3840480" cy="4663440"/>
          </a:xfrm>
          <a:prstGeom prst="roundRect">
            <a:avLst>
              <a:gd name="adj" fmla="val 1905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세대별 주력 모델과 대표 성장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1945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4.x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2219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BB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4.7 (1M) · Opus 4.8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606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기능 PR 35 → 72건 (2.0배)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321868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BB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5 · Opus 5 · Fable 5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63016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코드 +20K → +36K줄 (1.8배)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242816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5.x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4270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BB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5.5 · Fable 5.1 · Sonnet 5.5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465429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PR당 변경 파일 5 → 10개 (2.0배)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52578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8~9월 기능 PR 감소는 성능 저하가 아니라 안정화 집중(테스트 540 → 1,097)의 결과다.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main 병합 PR 745건 중 모델 표기(Co-Authored-By) PR 295건 + 초기 173건 · 세대 구간은 일부 겹침 · 파일 = 중앙값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— 7월 버그 급증을 테스트·게이트로 되잡았다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31520" y="1691640"/>
          <a:ext cx="5120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554480"/>
            <a:ext cx="5303520" cy="4663440"/>
          </a:xfrm>
          <a:prstGeom prst="roundRect">
            <a:avLst>
              <a:gd name="adj" fmla="val 1569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graphicFrame>
        <p:nvGraphicFramePr>
          <p:cNvPr id="7" name="Chart 1" descr=""/>
          <p:cNvGraphicFramePr/>
          <p:nvPr/>
        </p:nvGraphicFramePr>
        <p:xfrm>
          <a:off x="6446520" y="16916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583680" y="49377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DB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fix 비율 50%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테스트 10배·docs-sync CI·자동 릴리스 도입 → 9월 40% 로 회복, 릴리스 82회 중 revert·hotfix 4건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backend/tests 의 def test_ 집계, Conventional Commits prefix 집계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MATURITY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활용 성숙도 — 4단계로 진화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2A3C35"/>
          </a:solidFill>
          <a:ln w="12700">
            <a:solidFill>
              <a:srgbClr val="364A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코딩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2~3월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대화로 기능 단위 구현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첫 도입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00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54건/월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136392" y="3703320"/>
            <a:ext cx="219456" cy="274320"/>
          </a:xfrm>
          <a:prstGeom prst="rightArrow">
            <a:avLst/>
          </a:prstGeom>
          <a:solidFill>
            <a:srgbClr val="94A2DB"/>
          </a:solidFill>
          <a:ln w="12700">
            <a:solidFill>
              <a:srgbClr val="94A2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64592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1874520"/>
            <a:ext cx="640080" cy="640080"/>
          </a:xfrm>
          <a:prstGeom prst="ellipse">
            <a:avLst/>
          </a:prstGeom>
          <a:solidFill>
            <a:srgbClr val="2A3C35"/>
          </a:solidFill>
          <a:ln w="12700">
            <a:solidFill>
              <a:srgbClr val="364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문서화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200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4~5월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CODE_MAP·디자인 시스템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문서로 저장소 지도 제공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4800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84건/월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971032" y="3703320"/>
            <a:ext cx="219456" cy="274320"/>
          </a:xfrm>
          <a:prstGeom prst="rightArrow">
            <a:avLst/>
          </a:prstGeom>
          <a:solidFill>
            <a:srgbClr val="94A2DB"/>
          </a:solidFill>
          <a:ln w="12700">
            <a:solidFill>
              <a:srgbClr val="94A2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64592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1874520"/>
            <a:ext cx="640080" cy="640080"/>
          </a:xfrm>
          <a:prstGeom prst="ellipse">
            <a:avLst/>
          </a:prstGeom>
          <a:solidFill>
            <a:srgbClr val="2A3C35"/>
          </a:solidFill>
          <a:ln w="12700">
            <a:solidFill>
              <a:srgbClr val="364A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DE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스킬·자동 게이트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200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6~7월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8종, docs-sync CI,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릴리스·CHANGELOG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800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150건/월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805672" y="3703320"/>
            <a:ext cx="219456" cy="274320"/>
          </a:xfrm>
          <a:prstGeom prst="rightArrow">
            <a:avLst/>
          </a:prstGeom>
          <a:solidFill>
            <a:srgbClr val="94A2DB"/>
          </a:solidFill>
          <a:ln w="12700">
            <a:solidFill>
              <a:srgbClr val="94A2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052560" y="164592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323853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26880" y="1874520"/>
            <a:ext cx="640080" cy="640080"/>
          </a:xfrm>
          <a:prstGeom prst="ellipse">
            <a:avLst/>
          </a:prstGeom>
          <a:solidFill>
            <a:srgbClr val="94A2DB"/>
          </a:solidFill>
          <a:ln w="12700">
            <a:solidFill>
              <a:srgbClr val="94A2D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2688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27432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운영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3200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DB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8~9월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감사 에이전트, 테스트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1,097개, 안정화 우선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326880" y="48006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DB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2배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PR/월 = 해당 구간 월평균 병합 PR · 현재 위치 = 4단계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상용화까지 얼마나 왔나 — 종합 67%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126480" cy="4663440"/>
          </a:xfrm>
          <a:prstGeom prst="roundRect">
            <a:avLst>
              <a:gd name="adj" fmla="val 1569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85800" y="164592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949440" y="1554480"/>
            <a:ext cx="4663440" cy="4663440"/>
          </a:xfrm>
          <a:prstGeom prst="roundRect">
            <a:avLst>
              <a:gd name="adj" fmla="val 1569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7804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근거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103120"/>
            <a:ext cx="42519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ADB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기능·CI·배포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라우터 76 · 화면 72 · 모델 60, CI 게이트 3종, Helm/Kustomize 4 overlay + 폐쇄망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ADB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1,097개 (커버리지 미측정), 프론트 단위·E2E 0건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ADB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+ viewer/operator/admin + 테넌트 격리 + 감사 로그 / SSO·refresh 토큰 없음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ADB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백로그 101건 중 83건 완료(82%) / i18n·반응형 미대응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ADB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자체 메트릭 exporter 0, 부하 테스트 0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평가: 9개 영역 동일 가중 평균 · 70% 이상 = 상용 기준 충족(강조색)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2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과제 — 상용 전환을 막는 5가지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600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50976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지표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323853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SSO·세션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20116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OIDC/LDAP 로그인, refresh 토큰, 만료 안내·returnTo (R-7)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50976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B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55 → 80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2779776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323853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77977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DBA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277977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 테스트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277977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Vitest 핵심 훅·컴포넌트 + Playwright 주요 동선 E2E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509760" y="277977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DB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→ 60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547872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54787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BB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5478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관측·성능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354787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/metrics exporter, SLO 정의, 대형 클러스터 부하 테스트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354787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→ 70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315968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3159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BB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645920" y="4315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국제화·반응형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840480" y="431596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react-i18next ko/en (R-6), 태블릿 최소 폭 대응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509760" y="4315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70 → 85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5084064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E2F28"/>
          </a:solidFill>
          <a:ln w="9525">
            <a:solidFill>
              <a:srgbClr val="364A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520" y="508406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BBA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645920" y="508406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백로그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3840480" y="508406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미처리 13건 + 부분완료 3건 소진, 토큰 정합(raw hex 104건)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509760" y="508406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82% → 100%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DBA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지표를 모두 달성하면 종합 진척도 67% → 약 80% (상용 베타 수준)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DESIGN.md 로드맵 R-6·R-7, 백로그 D-069~D-085, 저장소 grep 결과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15568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F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30171B"/>
          </a:solidFill>
          <a:ln w="12700">
            <a:solidFill>
              <a:srgbClr val="30171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731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8개월에서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얻은 3가지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는 속도를 주고,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하네스는 방향을 준다.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548640" cy="548640"/>
          </a:xfrm>
          <a:prstGeom prst="ellipse">
            <a:avLst/>
          </a:prstGeom>
          <a:solidFill>
            <a:srgbClr val="94A2DB"/>
          </a:solidFill>
          <a:ln w="12700">
            <a:solidFill>
              <a:srgbClr val="94A2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0" y="868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8229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컨텍스트가 곧 생산성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3716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CLAUDE.md·CODE_MAP·스킬로 규칙을 저장소에 남기자 같은 설명의 반복이 사라졌다. 월 PR 1.8배의 실제 원인이다.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2788920"/>
            <a:ext cx="548640" cy="548640"/>
          </a:xfrm>
          <a:prstGeom prst="ellipse">
            <a:avLst/>
          </a:prstGeom>
          <a:solidFill>
            <a:srgbClr val="94A2DB"/>
          </a:solidFill>
          <a:ln w="12700">
            <a:solidFill>
              <a:srgbClr val="94A2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27432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속도는 게이트와 함께 키운다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2918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fix 비율 50% 는 게이트 없이 속도만 낸 대가였다. 테스트·docs-sync·자동 릴리스가 이를 40% 로 되돌렸다.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4709160"/>
            <a:ext cx="548640" cy="548640"/>
          </a:xfrm>
          <a:prstGeom prst="ellipse">
            <a:avLst/>
          </a:prstGeom>
          <a:solidFill>
            <a:srgbClr val="94A2DB"/>
          </a:solidFill>
          <a:ln w="12700">
            <a:solidFill>
              <a:srgbClr val="94A2D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46634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DEA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역할은 '판단'으로 이동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52120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BBA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만들지, 무엇이 충분히 좋은지, 어디서 멈출지. 남은 과제(SSO·테스트·관측)도 같은 판단의 문제다.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페어 개발 리포트 — PEP</dc:title>
  <dc:subject>PptxGenJS Presentation</dc:subject>
  <dc:creator>PptxGenJS</dc:creator>
  <cp:lastModifiedBy>PptxGenJS</cp:lastModifiedBy>
  <cp:revision>1</cp:revision>
  <dcterms:created xsi:type="dcterms:W3CDTF">2026-10-01T13:02:17Z</dcterms:created>
  <dcterms:modified xsi:type="dcterms:W3CDTF">2026-10-01T13:02:17Z</dcterms:modified>
</cp:coreProperties>
</file>