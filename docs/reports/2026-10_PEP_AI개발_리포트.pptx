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81C1A"/>
                </a:solidFill>
                <a:latin typeface="Malgun Gothic"/>
              </a:defRPr>
            </a:pPr>
            <a:r>
              <a:rPr sz="1400" b="0" i="0" u="none" strike="noStrike">
                <a:solidFill>
                  <a:srgbClr val="281C1A"/>
                </a:solidFill>
                <a:latin typeface="Malgun Gothic"/>
              </a:rPr>
              <a:t>월별 커밋 수 (병합·봇 커밋 제외)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 (Claude)</c:v>
                </c:pt>
              </c:strCache>
            </c:strRef>
          </c:tx>
          <c:spPr>
            <a:solidFill>
              <a:srgbClr val="DA95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81C1A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2월</c:v>
                  </c:pt>
                  <c:pt idx="1">
                    <c:v>3월</c:v>
                  </c:pt>
                  <c:pt idx="2">
                    <c:v>4월</c:v>
                  </c:pt>
                  <c:pt idx="3">
                    <c:v>5월</c:v>
                  </c:pt>
                  <c:pt idx="4">
                    <c:v>6월</c:v>
                  </c:pt>
                  <c:pt idx="5">
                    <c:v>7월</c:v>
                  </c:pt>
                  <c:pt idx="6">
                    <c:v>8월</c:v>
                  </c:pt>
                  <c:pt idx="7">
                    <c:v>9월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67</c:v>
                </c:pt>
                <c:pt idx="1">
                  <c:v>49</c:v>
                </c:pt>
                <c:pt idx="2">
                  <c:v>80</c:v>
                </c:pt>
                <c:pt idx="3">
                  <c:v>173</c:v>
                </c:pt>
                <c:pt idx="4">
                  <c:v>216</c:v>
                </c:pt>
                <c:pt idx="5">
                  <c:v>250</c:v>
                </c:pt>
                <c:pt idx="6">
                  <c:v>85</c:v>
                </c:pt>
                <c:pt idx="7">
                  <c:v>92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사람</c:v>
                </c:pt>
              </c:strCache>
            </c:strRef>
          </c:tx>
          <c:spPr>
            <a:solidFill>
              <a:srgbClr val="A4928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81C1A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2월</c:v>
                  </c:pt>
                  <c:pt idx="1">
                    <c:v>3월</c:v>
                  </c:pt>
                  <c:pt idx="2">
                    <c:v>4월</c:v>
                  </c:pt>
                  <c:pt idx="3">
                    <c:v>5월</c:v>
                  </c:pt>
                  <c:pt idx="4">
                    <c:v>6월</c:v>
                  </c:pt>
                  <c:pt idx="5">
                    <c:v>7월</c:v>
                  </c:pt>
                  <c:pt idx="6">
                    <c:v>8월</c:v>
                  </c:pt>
                  <c:pt idx="7">
                    <c:v>9월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6</c:v>
                </c:pt>
                <c:pt idx="1">
                  <c:v>4</c:v>
                </c:pt>
                <c:pt idx="2">
                  <c:v>19</c:v>
                </c:pt>
                <c:pt idx="3">
                  <c:v>11</c:v>
                </c:pt>
                <c:pt idx="4">
                  <c:v>2</c:v>
                </c:pt>
                <c:pt idx="5">
                  <c:v>1</c:v>
                </c:pt>
                <c:pt idx="6">
                  <c:v>1</c:v>
                </c:pt>
                <c:pt idx="7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81C1A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E5D53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8D1C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E5D5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6E5D53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81C1A"/>
                </a:solidFill>
                <a:latin typeface="Malgun Gothic"/>
              </a:defRPr>
            </a:pPr>
            <a:r>
              <a:rPr sz="1400" b="0" i="0" u="none" strike="noStrike">
                <a:solidFill>
                  <a:srgbClr val="281C1A"/>
                </a:solidFill>
                <a:latin typeface="Malgun Gothic"/>
              </a:rPr>
              <a:t>월별 병합 PR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병합 PR</c:v>
                </c:pt>
              </c:strCache>
            </c:strRef>
          </c:tx>
          <c:spPr>
            <a:solidFill>
              <a:srgbClr val="A4928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81C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4928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4928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4928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4928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A49284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A950B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A49284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A49284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2월</c:v>
                  </c:pt>
                  <c:pt idx="1">
                    <c:v>3월</c:v>
                  </c:pt>
                  <c:pt idx="2">
                    <c:v>4월</c:v>
                  </c:pt>
                  <c:pt idx="3">
                    <c:v>5월</c:v>
                  </c:pt>
                  <c:pt idx="4">
                    <c:v>6월</c:v>
                  </c:pt>
                  <c:pt idx="5">
                    <c:v>7월</c:v>
                  </c:pt>
                  <c:pt idx="6">
                    <c:v>8월</c:v>
                  </c:pt>
                  <c:pt idx="7">
                    <c:v>9월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53</c:v>
                </c:pt>
                <c:pt idx="1">
                  <c:v>54</c:v>
                </c:pt>
                <c:pt idx="2">
                  <c:v>68</c:v>
                </c:pt>
                <c:pt idx="3">
                  <c:v>99</c:v>
                </c:pt>
                <c:pt idx="4">
                  <c:v>116</c:v>
                </c:pt>
                <c:pt idx="5">
                  <c:v>183</c:v>
                </c:pt>
                <c:pt idx="6">
                  <c:v>87</c:v>
                </c:pt>
                <c:pt idx="7">
                  <c:v>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81C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E5D53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8D1C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E5D5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81C1A"/>
                </a:solidFill>
                <a:latin typeface="Malgun Gothic"/>
              </a:defRPr>
            </a:pPr>
            <a:r>
              <a:rPr sz="1400" b="0" i="0" u="none" strike="noStrike">
                <a:solidFill>
                  <a:srgbClr val="281C1A"/>
                </a:solidFill>
                <a:latin typeface="Malgun Gothic"/>
              </a:rPr>
              <a:t>작업일당 PR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 / 작업일</c:v>
                </c:pt>
              </c:strCache>
            </c:strRef>
          </c:tx>
          <c:spPr>
            <a:solidFill>
              <a:srgbClr val="DA950B"/>
            </a:solidFill>
            <a:ln w="38100" cap="flat">
              <a:solidFill>
                <a:srgbClr val="DA950B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81C1A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DA950B"/>
              </a:solidFill>
              <a:ln w="9525" cap="flat">
                <a:solidFill>
                  <a:srgbClr val="DA950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2월</c:v>
                  </c:pt>
                  <c:pt idx="1">
                    <c:v>3월</c:v>
                  </c:pt>
                  <c:pt idx="2">
                    <c:v>4월</c:v>
                  </c:pt>
                  <c:pt idx="3">
                    <c:v>5월</c:v>
                  </c:pt>
                  <c:pt idx="4">
                    <c:v>6월</c:v>
                  </c:pt>
                  <c:pt idx="5">
                    <c:v>7월</c:v>
                  </c:pt>
                  <c:pt idx="6">
                    <c:v>8월</c:v>
                  </c:pt>
                  <c:pt idx="7">
                    <c:v>9월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4.1</c:v>
                </c:pt>
                <c:pt idx="1">
                  <c:v>4.2</c:v>
                </c:pt>
                <c:pt idx="2">
                  <c:v>5.2</c:v>
                </c:pt>
                <c:pt idx="3">
                  <c:v>5</c:v>
                </c:pt>
                <c:pt idx="4">
                  <c:v>5.5</c:v>
                </c:pt>
                <c:pt idx="5">
                  <c:v>7.6</c:v>
                </c:pt>
                <c:pt idx="6">
                  <c:v>6.7</c:v>
                </c:pt>
                <c:pt idx="7">
                  <c:v>4.1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281C1A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5D53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8D1C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E5D5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81C1A"/>
                </a:solidFill>
                <a:latin typeface="Malgun Gothic"/>
              </a:defRPr>
            </a:pPr>
            <a:r>
              <a:rPr sz="1400" b="0" i="0" u="none" strike="noStrike">
                <a:solidFill>
                  <a:srgbClr val="281C1A"/>
                </a:solidFill>
                <a:latin typeface="Malgun Gothic"/>
              </a:rPr>
              <a:t>월말 코드 라인 (천 줄)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Frontend TS/TSX</c:v>
                </c:pt>
              </c:strCache>
            </c:strRef>
          </c:tx>
          <c:spPr>
            <a:solidFill>
              <a:srgbClr val="DA950B"/>
            </a:solidFill>
            <a:ln w="38100" cap="flat">
              <a:solidFill>
                <a:srgbClr val="DA950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81C1A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A950B"/>
              </a:solidFill>
              <a:ln w="9525" cap="flat">
                <a:solidFill>
                  <a:srgbClr val="DA950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2월</c:v>
                  </c:pt>
                  <c:pt idx="1">
                    <c:v>3월</c:v>
                  </c:pt>
                  <c:pt idx="2">
                    <c:v>4월</c:v>
                  </c:pt>
                  <c:pt idx="3">
                    <c:v>5월</c:v>
                  </c:pt>
                  <c:pt idx="4">
                    <c:v>6월</c:v>
                  </c:pt>
                  <c:pt idx="5">
                    <c:v>7월</c:v>
                  </c:pt>
                  <c:pt idx="6">
                    <c:v>8월</c:v>
                  </c:pt>
                  <c:pt idx="7">
                    <c:v>9월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8.3</c:v>
                </c:pt>
                <c:pt idx="1">
                  <c:v>18.9</c:v>
                </c:pt>
                <c:pt idx="2">
                  <c:v>40.9</c:v>
                </c:pt>
                <c:pt idx="3">
                  <c:v>59.4</c:v>
                </c:pt>
                <c:pt idx="4">
                  <c:v>77</c:v>
                </c:pt>
                <c:pt idx="5">
                  <c:v>104.5</c:v>
                </c:pt>
                <c:pt idx="6">
                  <c:v>110.1</c:v>
                </c:pt>
                <c:pt idx="7">
                  <c:v>121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Backend Python</c:v>
                </c:pt>
              </c:strCache>
            </c:strRef>
          </c:tx>
          <c:spPr>
            <a:solidFill>
              <a:srgbClr val="6E5D53"/>
            </a:solidFill>
            <a:ln w="38100" cap="flat">
              <a:solidFill>
                <a:srgbClr val="6E5D5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81C1A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E5D53"/>
              </a:solidFill>
              <a:ln w="9525" cap="flat">
                <a:solidFill>
                  <a:srgbClr val="6E5D5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2월</c:v>
                  </c:pt>
                  <c:pt idx="1">
                    <c:v>3월</c:v>
                  </c:pt>
                  <c:pt idx="2">
                    <c:v>4월</c:v>
                  </c:pt>
                  <c:pt idx="3">
                    <c:v>5월</c:v>
                  </c:pt>
                  <c:pt idx="4">
                    <c:v>6월</c:v>
                  </c:pt>
                  <c:pt idx="5">
                    <c:v>7월</c:v>
                  </c:pt>
                  <c:pt idx="6">
                    <c:v>8월</c:v>
                  </c:pt>
                  <c:pt idx="7">
                    <c:v>9월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5.6</c:v>
                </c:pt>
                <c:pt idx="1">
                  <c:v>7.9</c:v>
                </c:pt>
                <c:pt idx="2">
                  <c:v>20.2</c:v>
                </c:pt>
                <c:pt idx="3">
                  <c:v>31</c:v>
                </c:pt>
                <c:pt idx="4">
                  <c:v>44</c:v>
                </c:pt>
                <c:pt idx="5">
                  <c:v>75.8</c:v>
                </c:pt>
                <c:pt idx="6">
                  <c:v>82.4</c:v>
                </c:pt>
                <c:pt idx="7">
                  <c:v>101.7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81C1A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E5D53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8D1C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E5D5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6E5D53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81C1A"/>
                </a:solidFill>
                <a:latin typeface="Malgun Gothic"/>
              </a:defRPr>
            </a:pPr>
            <a:r>
              <a:rPr sz="1400" b="0" i="0" u="none" strike="noStrike">
                <a:solidFill>
                  <a:srgbClr val="281C1A"/>
                </a:solidFill>
                <a:latin typeface="Malgun Gothic"/>
              </a:rPr>
              <a:t>세대별 성장 지수 (초기 = 100)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월 기능 PR</c:v>
                </c:pt>
              </c:strCache>
            </c:strRef>
          </c:tx>
          <c:spPr>
            <a:solidFill>
              <a:srgbClr val="A4928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81C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초기 (2~4월)</c:v>
                  </c:pt>
                  <c:pt idx="1">
                    <c:v>4.x (5~6월)</c:v>
                  </c:pt>
                  <c:pt idx="2">
                    <c:v>5 (7~8월)</c:v>
                  </c:pt>
                  <c:pt idx="3">
                    <c:v>5.x (9월)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204</c:v>
                </c:pt>
                <c:pt idx="2">
                  <c:v>150</c:v>
                </c:pt>
                <c:pt idx="3">
                  <c:v>93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월 코드 증가량</c:v>
                </c:pt>
              </c:strCache>
            </c:strRef>
          </c:tx>
          <c:spPr>
            <a:solidFill>
              <a:srgbClr val="6E5D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81C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초기 (2~4월)</c:v>
                  </c:pt>
                  <c:pt idx="1">
                    <c:v>4.x (5~6월)</c:v>
                  </c:pt>
                  <c:pt idx="2">
                    <c:v>5 (7~8월)</c:v>
                  </c:pt>
                  <c:pt idx="3">
                    <c:v>5.x (9월)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</c:v>
                </c:pt>
                <c:pt idx="1">
                  <c:v>148</c:v>
                </c:pt>
                <c:pt idx="2">
                  <c:v>176</c:v>
                </c:pt>
                <c:pt idx="3">
                  <c:v>148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PR당 변경 파일</c:v>
                </c:pt>
              </c:strCache>
            </c:strRef>
          </c:tx>
          <c:spPr>
            <a:solidFill>
              <a:srgbClr val="DA95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81C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초기 (2~4월)</c:v>
                  </c:pt>
                  <c:pt idx="1">
                    <c:v>4.x (5~6월)</c:v>
                  </c:pt>
                  <c:pt idx="2">
                    <c:v>5 (7~8월)</c:v>
                  </c:pt>
                  <c:pt idx="3">
                    <c:v>5.x (9월)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100</c:v>
                </c:pt>
                <c:pt idx="1">
                  <c:v>140</c:v>
                </c:pt>
                <c:pt idx="2">
                  <c:v>140</c:v>
                </c:pt>
                <c:pt idx="3">
                  <c:v>200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81C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E5D53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0"/>
          <c:min val="0"/>
        </c:scaling>
        <c:delete val="0"/>
        <c:axPos val="l"/>
        <c:majorGridlines>
          <c:spPr>
            <a:ln w="6350" cap="flat">
              <a:solidFill>
                <a:srgbClr val="D8D1C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E5D5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6E5D53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81C1A"/>
                </a:solidFill>
                <a:latin typeface="Malgun Gothic"/>
              </a:defRPr>
            </a:pPr>
            <a:r>
              <a:rPr sz="1400" b="0" i="0" u="none" strike="noStrike">
                <a:solidFill>
                  <a:srgbClr val="281C1A"/>
                </a:solidFill>
                <a:latin typeface="Malgun Gothic"/>
              </a:rPr>
              <a:t>백엔드 테스트 함수 수 (월말)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테스트 함수</c:v>
                </c:pt>
              </c:strCache>
            </c:strRef>
          </c:tx>
          <c:spPr>
            <a:solidFill>
              <a:srgbClr val="DA95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81C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5월</c:v>
                  </c:pt>
                  <c:pt idx="1">
                    <c:v>6월</c:v>
                  </c:pt>
                  <c:pt idx="2">
                    <c:v>7월</c:v>
                  </c:pt>
                  <c:pt idx="3">
                    <c:v>8월</c:v>
                  </c:pt>
                  <c:pt idx="4">
                    <c:v>9월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31</c:v>
                </c:pt>
                <c:pt idx="1">
                  <c:v>57</c:v>
                </c:pt>
                <c:pt idx="2">
                  <c:v>540</c:v>
                </c:pt>
                <c:pt idx="3">
                  <c:v>730</c:v>
                </c:pt>
                <c:pt idx="4">
                  <c:v>1097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81C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E5D53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8D1C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E5D5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81C1A"/>
                </a:solidFill>
                <a:latin typeface="Malgun Gothic"/>
              </a:defRPr>
            </a:pPr>
            <a:r>
              <a:rPr sz="1400" b="0" i="0" u="none" strike="noStrike">
                <a:solidFill>
                  <a:srgbClr val="281C1A"/>
                </a:solidFill>
                <a:latin typeface="Malgun Gothic"/>
              </a:rPr>
              <a:t>월별 feat vs fix 커밋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feat</c:v>
                </c:pt>
              </c:strCache>
            </c:strRef>
          </c:tx>
          <c:spPr>
            <a:solidFill>
              <a:srgbClr val="DA95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81C1A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2월</c:v>
                  </c:pt>
                  <c:pt idx="1">
                    <c:v>3월</c:v>
                  </c:pt>
                  <c:pt idx="2">
                    <c:v>4월</c:v>
                  </c:pt>
                  <c:pt idx="3">
                    <c:v>5월</c:v>
                  </c:pt>
                  <c:pt idx="4">
                    <c:v>6월</c:v>
                  </c:pt>
                  <c:pt idx="5">
                    <c:v>7월</c:v>
                  </c:pt>
                  <c:pt idx="6">
                    <c:v>8월</c:v>
                  </c:pt>
                  <c:pt idx="7">
                    <c:v>9월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34</c:v>
                </c:pt>
                <c:pt idx="1">
                  <c:v>33</c:v>
                </c:pt>
                <c:pt idx="2">
                  <c:v>61</c:v>
                </c:pt>
                <c:pt idx="3">
                  <c:v>105</c:v>
                </c:pt>
                <c:pt idx="4">
                  <c:v>119</c:v>
                </c:pt>
                <c:pt idx="5">
                  <c:v>105</c:v>
                </c:pt>
                <c:pt idx="6">
                  <c:v>26</c:v>
                </c:pt>
                <c:pt idx="7">
                  <c:v>44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fix</c:v>
                </c:pt>
              </c:strCache>
            </c:strRef>
          </c:tx>
          <c:spPr>
            <a:solidFill>
              <a:srgbClr val="A4928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81C1A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2월</c:v>
                  </c:pt>
                  <c:pt idx="1">
                    <c:v>3월</c:v>
                  </c:pt>
                  <c:pt idx="2">
                    <c:v>4월</c:v>
                  </c:pt>
                  <c:pt idx="3">
                    <c:v>5월</c:v>
                  </c:pt>
                  <c:pt idx="4">
                    <c:v>6월</c:v>
                  </c:pt>
                  <c:pt idx="5">
                    <c:v>7월</c:v>
                  </c:pt>
                  <c:pt idx="6">
                    <c:v>8월</c:v>
                  </c:pt>
                  <c:pt idx="7">
                    <c:v>9월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36</c:v>
                </c:pt>
                <c:pt idx="1">
                  <c:v>17</c:v>
                </c:pt>
                <c:pt idx="2">
                  <c:v>22</c:v>
                </c:pt>
                <c:pt idx="3">
                  <c:v>43</c:v>
                </c:pt>
                <c:pt idx="4">
                  <c:v>55</c:v>
                </c:pt>
                <c:pt idx="5">
                  <c:v>104</c:v>
                </c:pt>
                <c:pt idx="6">
                  <c:v>41</c:v>
                </c:pt>
                <c:pt idx="7">
                  <c:v>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81C1A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5D53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8D1C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E5D5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6E5D53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81C1A"/>
                </a:solidFill>
                <a:latin typeface="Malgun Gothic"/>
              </a:defRPr>
            </a:pPr>
            <a:r>
              <a:rPr sz="1400" b="0" i="0" u="none" strike="noStrike">
                <a:solidFill>
                  <a:srgbClr val="281C1A"/>
                </a:solidFill>
                <a:latin typeface="Malgun Gothic"/>
              </a:rPr>
              <a:t>영역별 진척도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진척도</c:v>
                </c:pt>
              </c:strCache>
            </c:strRef>
          </c:tx>
          <c:spPr>
            <a:solidFill>
              <a:srgbClr val="A4928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81C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4928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4928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4928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A950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A950B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A950B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A950B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A950B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A950B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프론트 테스트</c:v>
                  </c:pt>
                  <c:pt idx="1">
                    <c:v>관측·성능</c:v>
                  </c:pt>
                  <c:pt idx="2">
                    <c:v>보안·인증</c:v>
                  </c:pt>
                  <c:pt idx="3">
                    <c:v>UX 완성도</c:v>
                  </c:pt>
                  <c:pt idx="4">
                    <c:v>백엔드 테스트</c:v>
                  </c:pt>
                  <c:pt idx="5">
                    <c:v>운영 문서</c:v>
                  </c:pt>
                  <c:pt idx="6">
                    <c:v>배포 형태</c:v>
                  </c:pt>
                  <c:pt idx="7">
                    <c:v>CI/CD·릴리스</c:v>
                  </c:pt>
                  <c:pt idx="8">
                    <c:v>기능 커버리지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</c:v>
                </c:pt>
                <c:pt idx="1">
                  <c:v>30</c:v>
                </c:pt>
                <c:pt idx="2">
                  <c:v>55</c:v>
                </c:pt>
                <c:pt idx="3">
                  <c:v>70</c:v>
                </c:pt>
                <c:pt idx="4">
                  <c:v>70</c:v>
                </c:pt>
                <c:pt idx="5">
                  <c:v>85</c:v>
                </c:pt>
                <c:pt idx="6">
                  <c:v>85</c:v>
                </c:pt>
                <c:pt idx="7">
                  <c:v>90</c:v>
                </c:pt>
                <c:pt idx="8">
                  <c:v>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81C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E5D53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D8D1C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E5D5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8개월간 1인 + AI(Claude Code) 페어로 PEP 를 개발한 과정과 결과를 수치로 정리했다.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0"/>
            <a:ext cx="4327855" cy="6858000"/>
          </a:xfrm>
          <a:prstGeom prst="rect">
            <a:avLst/>
          </a:prstGeom>
          <a:solidFill>
            <a:srgbClr val="231B1A"/>
          </a:solidFill>
          <a:ln w="12700">
            <a:solidFill>
              <a:srgbClr val="231B1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731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8540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보고 · 2026-10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와 함께 만든 8개월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60604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PEP(Platform Engineering Portal) 개발 과정·결과 리포트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5661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방식이 어떻게 바뀌었나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발전해 왔나 — 수치로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상용화까지 얼마나 왔고, 무엇이 남았나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03504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492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기간 2026-02-05 ~ 2026-10-01 · 데이터 기준 riverjin839/devops_management main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412480" y="8229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DE8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1,988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8412480" y="15544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7ADA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커밋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412480" y="21945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DE8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750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8412480" y="29260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7ADA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병합 PR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412480" y="35661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DE8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8412480" y="42976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7ADA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릴리스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412480" y="49377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ABF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96%</a:t>
            </a:r>
            <a:endParaRPr lang="en-US" sz="4400" dirty="0"/>
          </a:p>
        </p:txBody>
      </p:sp>
      <p:sp>
        <p:nvSpPr>
          <p:cNvPr id="15" name="Text 13"/>
          <p:cNvSpPr txBox="1"/>
          <p:nvPr/>
        </p:nvSpPr>
        <p:spPr>
          <a:xfrm>
            <a:off x="8412480" y="56692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7ADA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작성 커밋 비중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8540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SUMMARY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요약 — 구현은 AI, 사람은 의도·검증·하네스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DFDFC"/>
          </a:solidFill>
          <a:ln w="9525">
            <a:solidFill>
              <a:srgbClr val="D8D1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830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81C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222K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06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라인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0175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102K + TS 121K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2월 대비 16배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64992" y="160020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DFDFC"/>
          </a:solidFill>
          <a:ln w="9525">
            <a:solidFill>
              <a:srgbClr val="D8D1C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39312" y="17830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81C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1,097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3639312" y="2606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백엔드 테스트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639312" y="30175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5월 31개 → 9월 1,097개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35배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81344" y="160020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DFDFC"/>
          </a:solidFill>
          <a:ln w="9525">
            <a:solidFill>
              <a:srgbClr val="D8D1C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55664" y="17830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81C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6455664" y="2606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 / 작업일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455664" y="30175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750 PR ÷ 139 작업일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5건 병합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997696" y="160020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CF1CF"/>
          </a:solidFill>
          <a:ln w="9525">
            <a:solidFill>
              <a:srgbClr val="D8D1C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72016" y="17830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854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67%</a:t>
            </a:r>
            <a:endParaRPr lang="en-US" sz="4000" dirty="0"/>
          </a:p>
        </p:txBody>
      </p:sp>
      <p:sp>
        <p:nvSpPr>
          <p:cNvPr id="18" name="Text 16"/>
          <p:cNvSpPr txBox="1"/>
          <p:nvPr/>
        </p:nvSpPr>
        <p:spPr>
          <a:xfrm>
            <a:off x="9272016" y="2606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상용화 진척도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9272016" y="30175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9개 영역 자체 평가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근거는 11장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4206240"/>
            <a:ext cx="11064240" cy="2011680"/>
          </a:xfrm>
          <a:prstGeom prst="roundRect">
            <a:avLst>
              <a:gd name="adj" fmla="val 3636"/>
            </a:avLst>
          </a:prstGeom>
          <a:solidFill>
            <a:srgbClr val="FDFDFC"/>
          </a:solidFill>
          <a:ln w="9525">
            <a:solidFill>
              <a:srgbClr val="D8D1C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4389120"/>
            <a:ext cx="10515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88540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 변화 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커밋의 96%, PR 의 78% 를 AI 가 작성. 사람의 일은 코딩 → 요구사항·리뷰·규칙(하네스) 설계로 이동했다.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88540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 경로 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코딩 → 컨텍스트 문서화 → 스킬·자동 게이트 → 에이전트 운영의 4단계로 진화했다.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88540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상용화 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기능·배포·CI 는 상용 수준. SSO·프론트 테스트·관측성·i18n 이 남은 핵심 공백이다.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492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git log origin/main (2026-02-05 ~ 2026-10-01), 저장소 스냅샷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0080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492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8540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HOW WE WORK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방식은 어떻게 바뀌었나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영역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834640" y="16002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E5D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858000" y="16002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8540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AFTER (AI 페어)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10312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DFDFC"/>
          </a:solidFill>
          <a:ln w="9525">
            <a:solidFill>
              <a:srgbClr val="D8D1C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10312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작성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10312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직접 타이핑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63640" y="2276856"/>
            <a:ext cx="411480" cy="219456"/>
          </a:xfrm>
          <a:prstGeom prst="rightArrow">
            <a:avLst/>
          </a:prstGeom>
          <a:solidFill>
            <a:srgbClr val="DA950B"/>
          </a:solidFill>
          <a:ln w="12700">
            <a:solidFill>
              <a:srgbClr val="DA950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0" y="2103120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가 구현, 사람은 의도·수용 기준 제시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278892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DFDFC"/>
          </a:solidFill>
          <a:ln w="9525">
            <a:solidFill>
              <a:srgbClr val="D8D1C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78892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컨텍스트 전달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2834640" y="278892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매번 설명 (휘발)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263640" y="2962656"/>
            <a:ext cx="411480" cy="219456"/>
          </a:xfrm>
          <a:prstGeom prst="rightArrow">
            <a:avLst/>
          </a:prstGeom>
          <a:solidFill>
            <a:srgbClr val="DA950B"/>
          </a:solidFill>
          <a:ln w="12700">
            <a:solidFill>
              <a:srgbClr val="DA950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0" y="2788920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CLAUDE.md·CODE_MAP·SCREENS 로 저장소에 고정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347472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DFDFC"/>
          </a:solidFill>
          <a:ln w="9525">
            <a:solidFill>
              <a:srgbClr val="D8D1C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7240" y="347472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작업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2834640" y="347472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사람의 기억·체크리스트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263640" y="3648456"/>
            <a:ext cx="411480" cy="219456"/>
          </a:xfrm>
          <a:prstGeom prst="rightArrow">
            <a:avLst/>
          </a:prstGeom>
          <a:solidFill>
            <a:srgbClr val="DA950B"/>
          </a:solidFill>
          <a:ln w="12700">
            <a:solidFill>
              <a:srgbClr val="DA950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0" y="3474720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스킬 8종 (페이지·체커·릴리스·문서 동기화)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48640" y="416052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DFDFC"/>
          </a:solidFill>
          <a:ln w="9525">
            <a:solidFill>
              <a:srgbClr val="D8D1C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416052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 확인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2834640" y="416052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수동 확인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263640" y="4334256"/>
            <a:ext cx="411480" cy="219456"/>
          </a:xfrm>
          <a:prstGeom prst="rightArrow">
            <a:avLst/>
          </a:prstGeom>
          <a:solidFill>
            <a:srgbClr val="DA950B"/>
          </a:solidFill>
          <a:ln w="12700">
            <a:solidFill>
              <a:srgbClr val="DA950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0" y="4160520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lint 0경고·tsc·build·pytest·docs-sync 게이트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48640" y="484632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DFDFC"/>
          </a:solidFill>
          <a:ln w="9525">
            <a:solidFill>
              <a:srgbClr val="D8D1C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7240" y="484632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릴리스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2834640" y="484632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수동 버전·태그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263640" y="5020056"/>
            <a:ext cx="411480" cy="219456"/>
          </a:xfrm>
          <a:prstGeom prst="rightArrow">
            <a:avLst/>
          </a:prstGeom>
          <a:solidFill>
            <a:srgbClr val="DA950B"/>
          </a:solidFill>
          <a:ln w="12700">
            <a:solidFill>
              <a:srgbClr val="DA950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858000" y="4846320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 병합 → SemVer·CHANGELOG·태그 자동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548640" y="553212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DFDFC"/>
          </a:solidFill>
          <a:ln w="9525">
            <a:solidFill>
              <a:srgbClr val="D8D1C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553212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디자인 검토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2834640" y="553212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보며 감(感)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263640" y="5705856"/>
            <a:ext cx="411480" cy="219456"/>
          </a:xfrm>
          <a:prstGeom prst="rightArrow">
            <a:avLst/>
          </a:prstGeom>
          <a:solidFill>
            <a:srgbClr val="DA950B"/>
          </a:solidFill>
          <a:ln w="12700">
            <a:solidFill>
              <a:srgbClr val="DA950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858000" y="5532120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UX 에이전트 감사 → DESIGN.md 백로그 101건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492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저장소 내 CLAUDE.md · .claude/skills · .github/workflows · DESIGN.md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11155680" y="640080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492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8540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TIMELINE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를 잘 쓰기 위한 '하네스'가 쌓여 온 과정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371600" y="3246120"/>
            <a:ext cx="9418320" cy="0"/>
          </a:xfrm>
          <a:prstGeom prst="line">
            <a:avLst/>
          </a:prstGeom>
          <a:noFill/>
          <a:ln w="50800">
            <a:solidFill>
              <a:srgbClr val="D8D1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43584" y="3118104"/>
            <a:ext cx="256032" cy="256032"/>
          </a:xfrm>
          <a:prstGeom prst="ellipse">
            <a:avLst/>
          </a:prstGeom>
          <a:solidFill>
            <a:srgbClr val="6E5D53"/>
          </a:solidFill>
          <a:ln w="25400">
            <a:solidFill>
              <a:srgbClr val="F6F3E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8288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81C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02-05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1945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AI 커밋·PR #1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589058" y="3118104"/>
            <a:ext cx="256032" cy="256032"/>
          </a:xfrm>
          <a:prstGeom prst="ellipse">
            <a:avLst/>
          </a:prstGeom>
          <a:solidFill>
            <a:srgbClr val="DA950B"/>
          </a:solidFill>
          <a:ln w="25400">
            <a:solidFill>
              <a:srgbClr val="F6F3E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985554" y="36118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854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02-24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939834" y="39776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CLAUDE.md 도입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934533" y="3118104"/>
            <a:ext cx="256032" cy="256032"/>
          </a:xfrm>
          <a:prstGeom prst="ellipse">
            <a:avLst/>
          </a:prstGeom>
          <a:solidFill>
            <a:srgbClr val="6E5D53"/>
          </a:solidFill>
          <a:ln w="25400">
            <a:solidFill>
              <a:srgbClr val="F6F3E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331029" y="18288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81C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04-21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285309" y="21945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CODE_MAP.md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280007" y="3118104"/>
            <a:ext cx="256032" cy="256032"/>
          </a:xfrm>
          <a:prstGeom prst="ellipse">
            <a:avLst/>
          </a:prstGeom>
          <a:solidFill>
            <a:srgbClr val="6E5D53"/>
          </a:solidFill>
          <a:ln w="25400">
            <a:solidFill>
              <a:srgbClr val="F6F3E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676503" y="36118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81C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05-04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630783" y="39776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DESIGN_SYSTEM.md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625481" y="3118104"/>
            <a:ext cx="256032" cy="256032"/>
          </a:xfrm>
          <a:prstGeom prst="ellipse">
            <a:avLst/>
          </a:prstGeom>
          <a:solidFill>
            <a:srgbClr val="DA950B"/>
          </a:solidFill>
          <a:ln w="25400">
            <a:solidFill>
              <a:srgbClr val="F6F3E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21977" y="18288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854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06-03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976257" y="21945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스킬 + CHANGELOG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970955" y="3118104"/>
            <a:ext cx="256032" cy="256032"/>
          </a:xfrm>
          <a:prstGeom prst="ellipse">
            <a:avLst/>
          </a:prstGeom>
          <a:solidFill>
            <a:srgbClr val="DA950B"/>
          </a:solidFill>
          <a:ln w="25400">
            <a:solidFill>
              <a:srgbClr val="F6F3E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67451" y="36118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854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07-09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321731" y="39776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릴리스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9316430" y="3118104"/>
            <a:ext cx="256032" cy="256032"/>
          </a:xfrm>
          <a:prstGeom prst="ellipse">
            <a:avLst/>
          </a:prstGeom>
          <a:solidFill>
            <a:srgbClr val="6E5D53"/>
          </a:solidFill>
          <a:ln w="25400">
            <a:solidFill>
              <a:srgbClr val="F6F3E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712926" y="18288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81C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07-17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667206" y="21945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docs-sync CI·shadcn MCP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0661904" y="3118104"/>
            <a:ext cx="256032" cy="256032"/>
          </a:xfrm>
          <a:prstGeom prst="ellipse">
            <a:avLst/>
          </a:prstGeom>
          <a:solidFill>
            <a:srgbClr val="DA950B"/>
          </a:solidFill>
          <a:ln w="25400">
            <a:solidFill>
              <a:srgbClr val="F6F3E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058400" y="36118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854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07-19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0012680" y="39776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UX 에이전트·DESIGN.md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4983480"/>
            <a:ext cx="11064240" cy="1188720"/>
          </a:xfrm>
          <a:prstGeom prst="roundRect">
            <a:avLst>
              <a:gd name="adj" fmla="val 6154"/>
            </a:avLst>
          </a:prstGeom>
          <a:solidFill>
            <a:srgbClr val="FCF1CF"/>
          </a:solidFill>
          <a:ln w="9525">
            <a:solidFill>
              <a:srgbClr val="D8D1C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2960" y="50749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8540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관찰  </a:t>
            </a:r>
            <a:pPr indent="0" marL="0">
              <a:buNone/>
            </a:pPr>
            <a:r>
              <a:rPr lang="en-US" sz="1500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아니라 '저장소에 남긴 규칙'이 생산성을 바꿨다. CLAUDE.md 이후 같은 지시를 반복할 필요가 사라졌고, 스킬·게이트 도입(6~7월)과 함께 월 PR 이 99 → 183 건으로 1.8배가 됐다.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492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각 파일의 최초 추가 커밋 일자 (git log --diff-filter=A)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11155680" y="640080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492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8540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SHARE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 주체 — 커밋의 96% 를 AI 가 작성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589520" cy="4663440"/>
          </a:xfrm>
          <a:prstGeom prst="roundRect">
            <a:avLst>
              <a:gd name="adj" fmla="val 1569"/>
            </a:avLst>
          </a:prstGeom>
          <a:solidFill>
            <a:srgbClr val="FDFDFC"/>
          </a:solidFill>
          <a:ln w="9525">
            <a:solidFill>
              <a:srgbClr val="D8D1CA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731520" y="1691640"/>
          <a:ext cx="722376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412480" y="1554480"/>
            <a:ext cx="3200400" cy="1417320"/>
          </a:xfrm>
          <a:prstGeom prst="roundRect">
            <a:avLst>
              <a:gd name="adj" fmla="val 5161"/>
            </a:avLst>
          </a:prstGeom>
          <a:solidFill>
            <a:srgbClr val="FCF1CF"/>
          </a:solidFill>
          <a:ln w="9525">
            <a:solidFill>
              <a:srgbClr val="D8D1C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41080" y="16916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854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1,012 / 1,056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8641080" y="22402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작성 커밋 (96%)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412480" y="3154680"/>
            <a:ext cx="3200400" cy="1417320"/>
          </a:xfrm>
          <a:prstGeom prst="roundRect">
            <a:avLst>
              <a:gd name="adj" fmla="val 5161"/>
            </a:avLst>
          </a:prstGeom>
          <a:solidFill>
            <a:srgbClr val="FDFDFC"/>
          </a:solidFill>
          <a:ln w="9525">
            <a:solidFill>
              <a:srgbClr val="D8D1C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641080" y="32918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81C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586 / 750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8641080" y="38404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브랜치 PR (78%)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412480" y="4754880"/>
            <a:ext cx="3200400" cy="1417320"/>
          </a:xfrm>
          <a:prstGeom prst="roundRect">
            <a:avLst>
              <a:gd name="adj" fmla="val 5161"/>
            </a:avLst>
          </a:prstGeom>
          <a:solidFill>
            <a:srgbClr val="FDFDFC"/>
          </a:solidFill>
          <a:ln w="9525">
            <a:solidFill>
              <a:srgbClr val="D8D1C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641080" y="48920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81C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5월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8641080" y="54406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Claude Code CLI 전환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계정 커밋도 91% AI 작성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492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= 작성자 Claude 또는 Co-Authored-By: Claude 트레일러 · github-actions 봇 171건 제외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11155680" y="640080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492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8540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THROUGHPUT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처리량 — 7월 정점 183 PR, 이후 안정화 구간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6949440" cy="4663440"/>
          </a:xfrm>
          <a:prstGeom prst="roundRect">
            <a:avLst>
              <a:gd name="adj" fmla="val 1569"/>
            </a:avLst>
          </a:prstGeom>
          <a:solidFill>
            <a:srgbClr val="FDFDFC"/>
          </a:solidFill>
          <a:ln w="9525">
            <a:solidFill>
              <a:srgbClr val="D8D1CA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731520" y="1691640"/>
          <a:ext cx="658368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772400" y="1554480"/>
            <a:ext cx="3840480" cy="4663440"/>
          </a:xfrm>
          <a:prstGeom prst="roundRect">
            <a:avLst>
              <a:gd name="adj" fmla="val 1905"/>
            </a:avLst>
          </a:prstGeom>
          <a:solidFill>
            <a:srgbClr val="FDFDFC"/>
          </a:solidFill>
          <a:ln w="9525">
            <a:solidFill>
              <a:srgbClr val="D8D1CA"/>
            </a:solidFill>
            <a:prstDash val="solid"/>
          </a:ln>
        </p:spPr>
      </p:sp>
      <p:graphicFrame>
        <p:nvGraphicFramePr>
          <p:cNvPr id="7" name="Chart 1" descr=""/>
          <p:cNvGraphicFramePr/>
          <p:nvPr/>
        </p:nvGraphicFramePr>
        <p:xfrm>
          <a:off x="7909560" y="1691640"/>
          <a:ext cx="356616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8046720" y="466344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8540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4.1 → 7.6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2월 대비 7월 작업일당 PR 1.9배. 8월은 신규 기능 대신 버그·품질 정비에 집중한 구간이다.</a:t>
            </a:r>
            <a:endParaRPr lang="en-US" sz="22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492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'Merge pull request' 병합만 집계(브랜치 동기화 병합 95건 제외), 작업일 = 커밋 1건 이상인 날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1155680" y="640080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492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8540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GROWTH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결과물 — 코드 16배, 화면 9배, API 6배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6949440" cy="4663440"/>
          </a:xfrm>
          <a:prstGeom prst="roundRect">
            <a:avLst>
              <a:gd name="adj" fmla="val 1569"/>
            </a:avLst>
          </a:prstGeom>
          <a:solidFill>
            <a:srgbClr val="FDFDFC"/>
          </a:solidFill>
          <a:ln w="9525">
            <a:solidFill>
              <a:srgbClr val="D8D1CA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731520" y="1691640"/>
          <a:ext cx="658368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772400" y="1554480"/>
            <a:ext cx="3840480" cy="4663440"/>
          </a:xfrm>
          <a:prstGeom prst="roundRect">
            <a:avLst>
              <a:gd name="adj" fmla="val 1905"/>
            </a:avLst>
          </a:prstGeom>
          <a:solidFill>
            <a:srgbClr val="FDFDFC"/>
          </a:solidFill>
          <a:ln w="9525">
            <a:solidFill>
              <a:srgbClr val="D8D1C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046720" y="17373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2월 말 → 9월 말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22860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라우터 (API)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046720" y="260604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6E5D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pPr indent="0" marL="0">
              <a:buNone/>
            </a:pPr>
            <a:r>
              <a:rPr lang="en-US" sz="2400" dirty="0">
                <a:solidFill>
                  <a:srgbClr val="A492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</a:t>
            </a:r>
            <a:pPr indent="0" marL="0">
              <a:buNone/>
            </a:pPr>
            <a:r>
              <a:rPr lang="en-US" sz="2400" b="1" dirty="0">
                <a:solidFill>
                  <a:srgbClr val="8854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8046720" y="32461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(pages)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046720" y="356616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6E5D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pPr indent="0" marL="0">
              <a:buNone/>
            </a:pPr>
            <a:r>
              <a:rPr lang="en-US" sz="2400" dirty="0">
                <a:solidFill>
                  <a:srgbClr val="A492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</a:t>
            </a:r>
            <a:pPr indent="0" marL="0">
              <a:buNone/>
            </a:pPr>
            <a:r>
              <a:rPr lang="en-US" sz="2400" b="1" dirty="0">
                <a:solidFill>
                  <a:srgbClr val="8854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8046720" y="42062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모델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046720" y="452628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6E5D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pPr indent="0" marL="0">
              <a:buNone/>
            </a:pPr>
            <a:r>
              <a:rPr lang="en-US" sz="2400" dirty="0">
                <a:solidFill>
                  <a:srgbClr val="A492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</a:t>
            </a:r>
            <a:pPr indent="0" marL="0">
              <a:buNone/>
            </a:pPr>
            <a:r>
              <a:rPr lang="en-US" sz="2400" b="1" dirty="0">
                <a:solidFill>
                  <a:srgbClr val="8854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8046720" y="516636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(.md)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046720" y="548640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6E5D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pPr indent="0" marL="0">
              <a:buNone/>
            </a:pPr>
            <a:r>
              <a:rPr lang="en-US" sz="2400" dirty="0">
                <a:solidFill>
                  <a:srgbClr val="A492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</a:t>
            </a:r>
            <a:pPr indent="0" marL="0">
              <a:buNone/>
            </a:pPr>
            <a:r>
              <a:rPr lang="en-US" sz="2400" b="1" dirty="0">
                <a:solidFill>
                  <a:srgbClr val="8854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160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492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월말 커밋 스냅샷 기준 파일·라인 집계 (git ls-tree / cat-file)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11155680" y="640080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492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8540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 EVOLUTION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세대가 바뀔 때마다 기능 구현 규모가 커졌다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6949440" cy="4663440"/>
          </a:xfrm>
          <a:prstGeom prst="roundRect">
            <a:avLst>
              <a:gd name="adj" fmla="val 1569"/>
            </a:avLst>
          </a:prstGeom>
          <a:solidFill>
            <a:srgbClr val="FDFDFC"/>
          </a:solidFill>
          <a:ln w="9525">
            <a:solidFill>
              <a:srgbClr val="D8D1CA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731520" y="1691640"/>
          <a:ext cx="658368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772400" y="1554480"/>
            <a:ext cx="3840480" cy="4663440"/>
          </a:xfrm>
          <a:prstGeom prst="roundRect">
            <a:avLst>
              <a:gd name="adj" fmla="val 1905"/>
            </a:avLst>
          </a:prstGeom>
          <a:solidFill>
            <a:srgbClr val="FDFDFC"/>
          </a:solidFill>
          <a:ln w="9525">
            <a:solidFill>
              <a:srgbClr val="D8D1C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001000" y="16916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세대별 주력 모델과 대표 성장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001000" y="219456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854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4.x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8686800" y="22219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5D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 4.7 (1M) · Opus 4.8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8001000" y="260604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기능 PR 35 → 72건 (2.0배)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001000" y="3218688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854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8686800" y="32461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5D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 5 · Opus 5 · Fable 5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8001000" y="3630168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코드 +20K → +36K줄 (1.8배)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8001000" y="4242816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854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5.x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0" y="427024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5D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 5.5 · Fable 5.1 · Sonnet 5.5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8001000" y="4654296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PR당 변경 파일 5 → 10개 (2.0배)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001000" y="525780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8~9월 기능 PR 감소는 성능 저하가 아니라 안정화 집중(테스트 540 → 1,097)의 결과다.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492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기준: main 병합 PR 745건 중 모델 표기(Co-Authored-By) PR 295건 + 초기 173건 · 세대 구간은 일부 겹침 · 파일 = 중앙값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11155680" y="640080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492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8540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QUALITY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 — 7월 버그 급증을 테스트·게이트로 되잡았다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86400" cy="4663440"/>
          </a:xfrm>
          <a:prstGeom prst="roundRect">
            <a:avLst>
              <a:gd name="adj" fmla="val 1569"/>
            </a:avLst>
          </a:prstGeom>
          <a:solidFill>
            <a:srgbClr val="FDFDFC"/>
          </a:solidFill>
          <a:ln w="9525">
            <a:solidFill>
              <a:srgbClr val="D8D1CA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731520" y="1691640"/>
          <a:ext cx="512064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309360" y="1554480"/>
            <a:ext cx="5303520" cy="4663440"/>
          </a:xfrm>
          <a:prstGeom prst="roundRect">
            <a:avLst>
              <a:gd name="adj" fmla="val 1569"/>
            </a:avLst>
          </a:prstGeom>
          <a:solidFill>
            <a:srgbClr val="FDFDFC"/>
          </a:solidFill>
          <a:ln w="9525">
            <a:solidFill>
              <a:srgbClr val="D8D1CA"/>
            </a:solidFill>
            <a:prstDash val="solid"/>
          </a:ln>
        </p:spPr>
      </p:sp>
      <p:graphicFrame>
        <p:nvGraphicFramePr>
          <p:cNvPr id="7" name="Chart 1" descr=""/>
          <p:cNvGraphicFramePr/>
          <p:nvPr/>
        </p:nvGraphicFramePr>
        <p:xfrm>
          <a:off x="6446520" y="16916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583680" y="493776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88540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7월 fix 비율 50%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테스트 10배·docs-sync CI·자동 릴리스 도입 → 9월 40% 로 회복, 릴리스 82회 중 revert·hotfix 4건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492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backend/tests 의 def test_ 집계, Conventional Commits prefix 집계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1155680" y="640080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492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8540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MATURITY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활용 성숙도 — 4단계로 진화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560320" cy="3931920"/>
          </a:xfrm>
          <a:prstGeom prst="roundRect">
            <a:avLst>
              <a:gd name="adj" fmla="val 2857"/>
            </a:avLst>
          </a:prstGeom>
          <a:solidFill>
            <a:srgbClr val="FDFDFC"/>
          </a:solidFill>
          <a:ln w="9525">
            <a:solidFill>
              <a:srgbClr val="D8D1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74520"/>
            <a:ext cx="640080" cy="640080"/>
          </a:xfrm>
          <a:prstGeom prst="ellipse">
            <a:avLst/>
          </a:prstGeom>
          <a:solidFill>
            <a:srgbClr val="ECE7DF"/>
          </a:solidFill>
          <a:ln w="12700">
            <a:solidFill>
              <a:srgbClr val="D8D1C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874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81C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43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코딩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0040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2~3월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65760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대화로 기능 단위 구현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CLAUDE.md 첫 도입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8006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 54건/월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136392" y="3703320"/>
            <a:ext cx="219456" cy="274320"/>
          </a:xfrm>
          <a:prstGeom prst="rightArrow">
            <a:avLst/>
          </a:prstGeom>
          <a:solidFill>
            <a:srgbClr val="DA950B"/>
          </a:solidFill>
          <a:ln w="12700">
            <a:solidFill>
              <a:srgbClr val="DA95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83280" y="1645920"/>
            <a:ext cx="2560320" cy="3931920"/>
          </a:xfrm>
          <a:prstGeom prst="roundRect">
            <a:avLst>
              <a:gd name="adj" fmla="val 2857"/>
            </a:avLst>
          </a:prstGeom>
          <a:solidFill>
            <a:srgbClr val="FDFDFC"/>
          </a:solidFill>
          <a:ln w="9525">
            <a:solidFill>
              <a:srgbClr val="D8D1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0" y="1874520"/>
            <a:ext cx="640080" cy="640080"/>
          </a:xfrm>
          <a:prstGeom prst="ellipse">
            <a:avLst/>
          </a:prstGeom>
          <a:solidFill>
            <a:srgbClr val="ECE7DF"/>
          </a:solidFill>
          <a:ln w="12700">
            <a:solidFill>
              <a:srgbClr val="D8D1C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657600" y="1874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81C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3657600" y="2743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컨텍스트 문서화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3657600" y="320040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4~5월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3657600" y="365760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CODE_MAP·디자인 시스템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문서로 저장소 지도 제공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657600" y="48006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 84건/월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5971032" y="3703320"/>
            <a:ext cx="219456" cy="274320"/>
          </a:xfrm>
          <a:prstGeom prst="rightArrow">
            <a:avLst/>
          </a:prstGeom>
          <a:solidFill>
            <a:srgbClr val="DA950B"/>
          </a:solidFill>
          <a:ln w="12700">
            <a:solidFill>
              <a:srgbClr val="DA95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0" y="1645920"/>
            <a:ext cx="2560320" cy="3931920"/>
          </a:xfrm>
          <a:prstGeom prst="roundRect">
            <a:avLst>
              <a:gd name="adj" fmla="val 2857"/>
            </a:avLst>
          </a:prstGeom>
          <a:solidFill>
            <a:srgbClr val="FDFDFC"/>
          </a:solidFill>
          <a:ln w="9525">
            <a:solidFill>
              <a:srgbClr val="D8D1C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92240" y="1874520"/>
            <a:ext cx="640080" cy="640080"/>
          </a:xfrm>
          <a:prstGeom prst="ellipse">
            <a:avLst/>
          </a:prstGeom>
          <a:solidFill>
            <a:srgbClr val="ECE7DF"/>
          </a:solidFill>
          <a:ln w="12700">
            <a:solidFill>
              <a:srgbClr val="D8D1C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92240" y="1874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81C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6492240" y="2743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스킬·자동 게이트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6492240" y="320040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6~7월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492240" y="365760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스킬 8종, docs-sync CI,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릴리스·CHANGELOG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492240" y="48006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 150건/월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8805672" y="3703320"/>
            <a:ext cx="219456" cy="274320"/>
          </a:xfrm>
          <a:prstGeom prst="rightArrow">
            <a:avLst/>
          </a:prstGeom>
          <a:solidFill>
            <a:srgbClr val="DA950B"/>
          </a:solidFill>
          <a:ln w="12700">
            <a:solidFill>
              <a:srgbClr val="DA95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052560" y="1645920"/>
            <a:ext cx="2560320" cy="3931920"/>
          </a:xfrm>
          <a:prstGeom prst="roundRect">
            <a:avLst>
              <a:gd name="adj" fmla="val 2857"/>
            </a:avLst>
          </a:prstGeom>
          <a:solidFill>
            <a:srgbClr val="FCF1CF"/>
          </a:solidFill>
          <a:ln w="9525">
            <a:solidFill>
              <a:srgbClr val="D8D1C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326880" y="1874520"/>
            <a:ext cx="640080" cy="640080"/>
          </a:xfrm>
          <a:prstGeom prst="ellipse">
            <a:avLst/>
          </a:prstGeom>
          <a:solidFill>
            <a:srgbClr val="DA950B"/>
          </a:solidFill>
          <a:ln w="12700">
            <a:solidFill>
              <a:srgbClr val="DA950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326880" y="1874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81C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31" name="Text 29"/>
          <p:cNvSpPr txBox="1"/>
          <p:nvPr/>
        </p:nvSpPr>
        <p:spPr>
          <a:xfrm>
            <a:off x="9326880" y="2743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 운영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9326880" y="320040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540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8~9월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326880" y="365760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UX 감사 에이전트, 테스트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1,097개, 안정화 우선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9326880" y="48006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8540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2배</a:t>
            </a:r>
            <a:endParaRPr lang="en-US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492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PR/월 = 해당 구간 월평균 병합 PR · 현재 위치 = 4단계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11155680" y="640080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492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8540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READINESS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상용화까지 얼마나 왔나 — 종합 67%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6126480" cy="4663440"/>
          </a:xfrm>
          <a:prstGeom prst="roundRect">
            <a:avLst>
              <a:gd name="adj" fmla="val 1569"/>
            </a:avLst>
          </a:prstGeom>
          <a:solidFill>
            <a:srgbClr val="FDFDFC"/>
          </a:solidFill>
          <a:ln w="9525">
            <a:solidFill>
              <a:srgbClr val="D8D1CA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685800" y="1645920"/>
          <a:ext cx="58521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949440" y="1554480"/>
            <a:ext cx="4663440" cy="4663440"/>
          </a:xfrm>
          <a:prstGeom prst="roundRect">
            <a:avLst>
              <a:gd name="adj" fmla="val 1569"/>
            </a:avLst>
          </a:prstGeom>
          <a:solidFill>
            <a:srgbClr val="FDFDFC"/>
          </a:solidFill>
          <a:ln w="9525">
            <a:solidFill>
              <a:srgbClr val="D8D1C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178040" y="16916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 근거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178040" y="2103120"/>
            <a:ext cx="425196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88540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기능·CI·배포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라우터 76 · 화면 72 · 모델 60, CI 게이트 3종, Helm/Kustomize 4 overlay + 폐쇄망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88540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백엔드 1,097개 (커버리지 미측정), 프론트 단위·E2E 0건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88540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JWT + viewer/operator/admin + 테넌트 격리 + 감사 로그 / SSO·refresh 토큰 없음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88540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UX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UX 백로그 101건 중 83건 완료(82%) / i18n·반응형 미대응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88540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관측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자체 메트릭 exporter 0, 부하 테스트 0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492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평가: 9개 영역 동일 가중 평균 · 70% 이상 = 상용 기준 충족(강조색)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1155680" y="640080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492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8540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과제 — 상용 전환을 막는 5가지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60020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우선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16002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3840480" y="1600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509760" y="1600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지표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FCF1CF"/>
          </a:solidFill>
          <a:ln w="9525">
            <a:solidFill>
              <a:srgbClr val="D8D1C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01168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854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20116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SSO·세션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201168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OIDC/LDAP 로그인, refresh 토큰, 만료 안내·returnTo (R-7)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9509760" y="20116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8540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 55 → 80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2779776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FCF1CF"/>
          </a:solidFill>
          <a:ln w="9525">
            <a:solidFill>
              <a:srgbClr val="D8D1C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2779776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854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645920" y="2779776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프론트 테스트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3840480" y="2779776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Vitest 핵심 훅·컴포넌트 + Playwright 주요 동선 E2E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9509760" y="2779776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8540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 → 60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3547872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FDFDFC"/>
          </a:solidFill>
          <a:ln w="9525">
            <a:solidFill>
              <a:srgbClr val="D8D1C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3547872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E5D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645920" y="354787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관측·성능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3840480" y="3547872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/metrics exporter, SLO 정의, 대형 클러스터 부하 테스트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9509760" y="354787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 → 70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548640" y="4315968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FDFDFC"/>
          </a:solidFill>
          <a:ln w="9525">
            <a:solidFill>
              <a:srgbClr val="D8D1C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31520" y="4315968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E5D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1645920" y="4315968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국제화·반응형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3840480" y="4315968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react-i18next ko/en (R-6), 태블릿 최소 폭 대응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9509760" y="4315968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UX 70 → 85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548640" y="5084064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FDFDFC"/>
          </a:solidFill>
          <a:ln w="9525">
            <a:solidFill>
              <a:srgbClr val="D8D1C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31520" y="5084064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E5D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1645920" y="5084064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UX 백로그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3840480" y="5084064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미처리 13건 + 부분완료 3건 소진, 토큰 정합(raw hex 104건)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9509760" y="5084064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82% → 100%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8978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540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지표를 모두 달성하면 종합 진척도 67% → 약 80% (상용 베타 수준)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492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DESIGN.md 로드맵 R-6·R-7, 백로그 D-069~D-085, 저장소 grep 결과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11155680" y="640080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492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8540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RETROSPECTIVE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과거로 돌아간다면 — 무엇을 다르게 했어야 했나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5544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영역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2514600" y="15544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한 것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897880" y="15544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치른 대가 (지표)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732520" y="1554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8540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한다면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FDFDFC"/>
          </a:solidFill>
          <a:ln w="9525">
            <a:solidFill>
              <a:srgbClr val="D8D1C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41080" y="2039112"/>
            <a:ext cx="2880360" cy="585216"/>
          </a:xfrm>
          <a:prstGeom prst="roundRect">
            <a:avLst>
              <a:gd name="adj" fmla="val 9375"/>
            </a:avLst>
          </a:prstGeom>
          <a:solidFill>
            <a:srgbClr val="FCF1CF"/>
          </a:solidFill>
          <a:ln w="12700">
            <a:solidFill>
              <a:srgbClr val="FCF1C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하네스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514600" y="196596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CLAUDE.md 19일 차, CODE_MAP 75일 차, 스킬 118일 차에 도입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897880" y="19659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스킬 전 4개월은 같은 설명을 반복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8778240" y="196596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8540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1주 차에 하네스 골격(CLAUDE.md·스킬)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2807208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FDFDFC"/>
          </a:solidFill>
          <a:ln w="9525">
            <a:solidFill>
              <a:srgbClr val="D8D1C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641080" y="2880360"/>
            <a:ext cx="2880360" cy="585216"/>
          </a:xfrm>
          <a:prstGeom prst="roundRect">
            <a:avLst>
              <a:gd name="adj" fmla="val 9375"/>
            </a:avLst>
          </a:prstGeom>
          <a:solidFill>
            <a:srgbClr val="FCF1CF"/>
          </a:solidFill>
          <a:ln w="12700">
            <a:solidFill>
              <a:srgbClr val="FCF1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2807208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2514600" y="2807208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5월 말 코드 9만 줄에 테스트 31개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897880" y="2807208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7월 fix 104건, fix 비율 50%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778240" y="2807208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8540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 마다 테스트 동반을 CI 게이트로 강제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3648456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FDFDFC"/>
          </a:solidFill>
          <a:ln w="9525">
            <a:solidFill>
              <a:srgbClr val="D8D1C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41080" y="3721608"/>
            <a:ext cx="2880360" cy="585216"/>
          </a:xfrm>
          <a:prstGeom prst="roundRect">
            <a:avLst>
              <a:gd name="adj" fmla="val 9375"/>
            </a:avLst>
          </a:prstGeom>
          <a:solidFill>
            <a:srgbClr val="FCF1CF"/>
          </a:solidFill>
          <a:ln w="12700">
            <a:solidFill>
              <a:srgbClr val="FCF1C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520" y="3648456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디자인 시스템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2514600" y="3648456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34개를 만든 뒤 5월에 도입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897880" y="3648456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UX 백로그 101건, raw hex 104건 잔존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8778240" y="3648456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8540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5개 시점에 토큰·카드 규격 확정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48640" y="4489704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FDFDFC"/>
          </a:solidFill>
          <a:ln w="9525">
            <a:solidFill>
              <a:srgbClr val="D8D1C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641080" y="4562856"/>
            <a:ext cx="2880360" cy="585216"/>
          </a:xfrm>
          <a:prstGeom prst="roundRect">
            <a:avLst>
              <a:gd name="adj" fmla="val 9375"/>
            </a:avLst>
          </a:prstGeom>
          <a:solidFill>
            <a:srgbClr val="FCF1CF"/>
          </a:solidFill>
          <a:ln w="12700">
            <a:solidFill>
              <a:srgbClr val="FCF1C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31520" y="4489704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비기능 요건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2514600" y="4489704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SSO·i18n·관측·프론트 테스트를 후순위로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5897880" y="4489704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상용화 67%, 남은 공백이 전부 비기능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8778240" y="4489704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8540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1개월 차에 인증·관측·i18n 뼈대 선행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548640" y="5330952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FDFDFC"/>
          </a:solidFill>
          <a:ln w="9525">
            <a:solidFill>
              <a:srgbClr val="D8D1C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641080" y="5404104"/>
            <a:ext cx="2880360" cy="585216"/>
          </a:xfrm>
          <a:prstGeom prst="roundRect">
            <a:avLst>
              <a:gd name="adj" fmla="val 9375"/>
            </a:avLst>
          </a:prstGeom>
          <a:solidFill>
            <a:srgbClr val="FCF1CF"/>
          </a:solidFill>
          <a:ln w="12700">
            <a:solidFill>
              <a:srgbClr val="FCF1C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31520" y="5330952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규칙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2514600" y="5330952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표기 PR 40%, 동기화 병합 95건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5897880" y="5330952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모델·하네스 효과를 정밀 비교 불가</a:t>
            </a:r>
            <a:endParaRPr lang="en-US" sz="1250" dirty="0"/>
          </a:p>
        </p:txBody>
      </p:sp>
      <p:sp>
        <p:nvSpPr>
          <p:cNvPr id="37" name="Text 35"/>
          <p:cNvSpPr txBox="1"/>
          <p:nvPr/>
        </p:nvSpPr>
        <p:spPr>
          <a:xfrm>
            <a:off x="8778240" y="5330952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8540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커밋 트레일러·세션 링크·병합 규칙 첫날 고정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492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일차 = 첫 커밋(2026-02-05) 기준 · 지표 출처는 각 장(5·6·8·9·11장)과 동일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11155680" y="640080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492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8540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IF WE STARTED OVER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짠다면 — 기능보다 '틀'을 먼저 깐다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560320" cy="2743200"/>
          </a:xfrm>
          <a:prstGeom prst="roundRect">
            <a:avLst>
              <a:gd name="adj" fmla="val 2857"/>
            </a:avLst>
          </a:prstGeom>
          <a:solidFill>
            <a:srgbClr val="FCF1CF"/>
          </a:solidFill>
          <a:ln w="9525">
            <a:solidFill>
              <a:srgbClr val="D8D1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830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8540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1주 차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945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하네스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CLAUDE.md · CODE_MAP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스킬 템플릿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커밋·병합 규칙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136392" y="2807208"/>
            <a:ext cx="219456" cy="274320"/>
          </a:xfrm>
          <a:prstGeom prst="rightArrow">
            <a:avLst/>
          </a:prstGeom>
          <a:solidFill>
            <a:srgbClr val="DA950B"/>
          </a:solidFill>
          <a:ln w="12700">
            <a:solidFill>
              <a:srgbClr val="DA950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83280" y="1600200"/>
            <a:ext cx="2560320" cy="2743200"/>
          </a:xfrm>
          <a:prstGeom prst="roundRect">
            <a:avLst>
              <a:gd name="adj" fmla="val 2857"/>
            </a:avLst>
          </a:prstGeom>
          <a:solidFill>
            <a:srgbClr val="FDFDFC"/>
          </a:solidFill>
          <a:ln w="9525">
            <a:solidFill>
              <a:srgbClr val="D8D1C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57600" y="17830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8540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1개월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21945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 게이트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278892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 테스트 동반 강제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docs-sync · 자동 릴리스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디자인 토큰 확정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971032" y="2807208"/>
            <a:ext cx="219456" cy="274320"/>
          </a:xfrm>
          <a:prstGeom prst="rightArrow">
            <a:avLst/>
          </a:prstGeom>
          <a:solidFill>
            <a:srgbClr val="DA950B"/>
          </a:solidFill>
          <a:ln w="12700">
            <a:solidFill>
              <a:srgbClr val="DA95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1600200"/>
            <a:ext cx="2560320" cy="2743200"/>
          </a:xfrm>
          <a:prstGeom prst="roundRect">
            <a:avLst>
              <a:gd name="adj" fmla="val 2857"/>
            </a:avLst>
          </a:prstGeom>
          <a:solidFill>
            <a:srgbClr val="FDFDFC"/>
          </a:solidFill>
          <a:ln w="9525">
            <a:solidFill>
              <a:srgbClr val="D8D1C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92240" y="17830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8540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2~3개월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21945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상용 뼈대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278892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SSO·세션 · i18n 키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/metrics · E2E 스모크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 UX 규칙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805672" y="2807208"/>
            <a:ext cx="219456" cy="274320"/>
          </a:xfrm>
          <a:prstGeom prst="rightArrow">
            <a:avLst/>
          </a:prstGeom>
          <a:solidFill>
            <a:srgbClr val="DA950B"/>
          </a:solidFill>
          <a:ln w="12700">
            <a:solidFill>
              <a:srgbClr val="DA950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052560" y="1600200"/>
            <a:ext cx="2560320" cy="2743200"/>
          </a:xfrm>
          <a:prstGeom prst="roundRect">
            <a:avLst>
              <a:gd name="adj" fmla="val 2857"/>
            </a:avLst>
          </a:prstGeom>
          <a:solidFill>
            <a:srgbClr val="FDFDFC"/>
          </a:solidFill>
          <a:ln w="9525">
            <a:solidFill>
              <a:srgbClr val="D8D1C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326880" y="17830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8540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4개월~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21945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확장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9326880" y="278892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도메인 기능 병렬 개발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UX·보안 감사 에이전트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모델별 작업 라우팅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457200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FDFDFC"/>
          </a:solidFill>
          <a:ln w="9525">
            <a:solidFill>
              <a:srgbClr val="D8D1C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4709160"/>
            <a:ext cx="5029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순서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→ 컨텍스트 → 게이트 → 안정화 → 비기능(미완)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172200" y="457200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FCF1CF"/>
          </a:solidFill>
          <a:ln w="9525">
            <a:solidFill>
              <a:srgbClr val="D8D1C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00800" y="4709160"/>
            <a:ext cx="5029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88540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 효과 (추정)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과제 5개 중 4개(SSO·프론트 테스트·관측·i18n)를 깔고 기능을 얹었을 것. 7월 fix 급증과 UX 재작업이 가장 크게 줄었을 구간이다.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492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추정은 실제 수치(9·11·12장)에 근거한 해석이며 검증된 결과가 아니다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11155680" y="640080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492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231B1A"/>
          </a:solidFill>
          <a:ln w="12700">
            <a:solidFill>
              <a:srgbClr val="231B1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7315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BF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8016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DE8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8개월에서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EDE8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얻은 3가지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93776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B7ADA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는 속도를 주고,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B7ADA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하네스는 방향을 준다.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754880" y="868680"/>
            <a:ext cx="548640" cy="548640"/>
          </a:xfrm>
          <a:prstGeom prst="ellipse">
            <a:avLst/>
          </a:prstGeom>
          <a:solidFill>
            <a:srgbClr val="DA950B"/>
          </a:solidFill>
          <a:ln w="12700">
            <a:solidFill>
              <a:srgbClr val="DA950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754880" y="868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81C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577840" y="822960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컨텍스트가 곧 생산성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577840" y="1371600"/>
            <a:ext cx="6035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CLAUDE.md·CODE_MAP·스킬로 규칙을 저장소에 남기자 같은 설명의 반복이 사라졌다. 월 PR 1.8배의 실제 원인이다.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754880" y="2788920"/>
            <a:ext cx="548640" cy="548640"/>
          </a:xfrm>
          <a:prstGeom prst="ellipse">
            <a:avLst/>
          </a:prstGeom>
          <a:solidFill>
            <a:srgbClr val="DA950B"/>
          </a:solidFill>
          <a:ln w="12700">
            <a:solidFill>
              <a:srgbClr val="DA950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75488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81C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577840" y="2743200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속도는 게이트와 함께 키운다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5577840" y="3291840"/>
            <a:ext cx="6035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7월 fix 비율 50% 는 게이트 없이 속도만 낸 대가였다. 테스트·docs-sync·자동 릴리스가 이를 40% 로 되돌렸다.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754880" y="4709160"/>
            <a:ext cx="548640" cy="548640"/>
          </a:xfrm>
          <a:prstGeom prst="ellipse">
            <a:avLst/>
          </a:prstGeom>
          <a:solidFill>
            <a:srgbClr val="DA950B"/>
          </a:solidFill>
          <a:ln w="12700">
            <a:solidFill>
              <a:srgbClr val="DA950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54880" y="4709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81C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5577840" y="4663440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81C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사람의 역할은 '판단'으로 이동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5577840" y="5212080"/>
            <a:ext cx="6035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5D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만들지, 무엇이 충분히 좋은지, 어디서 멈출지. 남은 과제(SSO·테스트·관측)도 같은 판단의 문제다.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페어 개발 리포트 — PEP</dc:title>
  <dc:subject>PptxGenJS Presentation</dc:subject>
  <dc:creator>PptxGenJS</dc:creator>
  <cp:lastModifiedBy>PptxGenJS</cp:lastModifiedBy>
  <cp:revision>1</cp:revision>
  <dcterms:created xsi:type="dcterms:W3CDTF">2026-10-01T13:21:45Z</dcterms:created>
  <dcterms:modified xsi:type="dcterms:W3CDTF">2026-10-01T13:21:45Z</dcterms:modified>
</cp:coreProperties>
</file>